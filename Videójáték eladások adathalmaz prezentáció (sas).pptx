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9D90C8-1143-461D-A0D3-DC506C38C367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45F4A1-901F-43AD-A18C-1478442D16C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4221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5F4A1-901F-43AD-A18C-1478442D16C5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275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4643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6401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62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296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941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6566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3940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630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2082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751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4325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2883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8481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48983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6104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1224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4136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52F9200-43C9-43C0-A806-0F5B5B9C66E8}" type="datetimeFigureOut">
              <a:rPr lang="hu-HU" smtClean="0"/>
              <a:t>2025. 05. 18.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7AFBF22-9050-4D9F-B938-515D3D09C2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99074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5470C3-B21B-E2A7-3887-CB2E8C289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4381" y="3990975"/>
            <a:ext cx="8172450" cy="771525"/>
          </a:xfrm>
        </p:spPr>
        <p:txBody>
          <a:bodyPr vert="horz" wrap="none" lIns="91440" tIns="45720" rIns="91440" bIns="45720" rtlCol="0" anchor="t">
            <a:normAutofit fontScale="90000"/>
          </a:bodyPr>
          <a:lstStyle/>
          <a:p>
            <a:r>
              <a:rPr lang="en-US" sz="6000" dirty="0" err="1"/>
              <a:t>Videójáték</a:t>
            </a:r>
            <a:r>
              <a:rPr lang="en-US" sz="6000" dirty="0"/>
              <a:t> </a:t>
            </a:r>
            <a:r>
              <a:rPr lang="en-US" sz="6000" dirty="0" err="1"/>
              <a:t>eladások</a:t>
            </a:r>
            <a:r>
              <a:rPr lang="en-US" sz="6000" dirty="0"/>
              <a:t> </a:t>
            </a:r>
            <a:r>
              <a:rPr lang="en-US" sz="6000" dirty="0" err="1"/>
              <a:t>adathalmaz</a:t>
            </a:r>
            <a:endParaRPr lang="en-US" sz="6000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5CA1E7DF-F79A-7AB8-7A7A-EED05D0B2C85}"/>
              </a:ext>
            </a:extLst>
          </p:cNvPr>
          <p:cNvSpPr txBox="1"/>
          <p:nvPr/>
        </p:nvSpPr>
        <p:spPr>
          <a:xfrm>
            <a:off x="3252788" y="4762500"/>
            <a:ext cx="5686424" cy="3638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i="1" dirty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rPr>
              <a:t>https://www.kaggle.com/datasets/gregorut/videogamesales</a:t>
            </a: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381B17AC-A19E-CD43-2FEE-5AF638B7B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40" y="390281"/>
            <a:ext cx="10355120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86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BE85CB9-2A03-945D-380B-CCE92E7B0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4" y="193344"/>
            <a:ext cx="5962651" cy="1325563"/>
          </a:xfrm>
        </p:spPr>
        <p:txBody>
          <a:bodyPr>
            <a:normAutofit/>
          </a:bodyPr>
          <a:lstStyle/>
          <a:p>
            <a:r>
              <a:rPr lang="hu-HU" dirty="0"/>
              <a:t>Teljes </a:t>
            </a:r>
            <a:r>
              <a:rPr lang="hu-HU" dirty="0" err="1"/>
              <a:t>Process</a:t>
            </a:r>
            <a:r>
              <a:rPr lang="hu-HU" dirty="0"/>
              <a:t> Flow: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F5297280-E927-E272-CACE-9FACCB3754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9351" y="260019"/>
            <a:ext cx="4411574" cy="6337962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402856DA-227E-03DC-CD01-CA82EAC16E3B}"/>
              </a:ext>
            </a:extLst>
          </p:cNvPr>
          <p:cNvSpPr txBox="1"/>
          <p:nvPr/>
        </p:nvSpPr>
        <p:spPr>
          <a:xfrm>
            <a:off x="332336" y="2981985"/>
            <a:ext cx="616805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600" b="1" dirty="0"/>
              <a:t>Hipotézis</a:t>
            </a:r>
            <a:br>
              <a:rPr lang="hu-HU" sz="3600" b="1" dirty="0"/>
            </a:br>
            <a:br>
              <a:rPr lang="hu-HU" sz="2800" dirty="0"/>
            </a:br>
            <a:r>
              <a:rPr lang="hu-HU" sz="2800" dirty="0"/>
              <a:t>Az elmúlt években, a videójáték piacon az akció műfaj volt a legkelendőbb globális szinten.</a:t>
            </a:r>
          </a:p>
        </p:txBody>
      </p:sp>
    </p:spTree>
    <p:extLst>
      <p:ext uri="{BB962C8B-B14F-4D97-AF65-F5344CB8AC3E}">
        <p14:creationId xmlns:p14="http://schemas.microsoft.com/office/powerpoint/2010/main" val="122478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54C787-32E6-2906-2670-438E8C760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Query</a:t>
            </a:r>
            <a:r>
              <a:rPr lang="hu-HU" dirty="0"/>
              <a:t> </a:t>
            </a:r>
            <a:r>
              <a:rPr lang="hu-HU" dirty="0" err="1"/>
              <a:t>builder</a:t>
            </a:r>
            <a:r>
              <a:rPr lang="hu-HU" dirty="0"/>
              <a:t> </a:t>
            </a:r>
            <a:r>
              <a:rPr lang="hu-HU" dirty="0" err="1"/>
              <a:t>task</a:t>
            </a:r>
            <a:r>
              <a:rPr lang="hu-HU" dirty="0"/>
              <a:t>(</a:t>
            </a:r>
            <a:r>
              <a:rPr lang="hu-HU" sz="3200" i="1" dirty="0"/>
              <a:t>illetve 2 </a:t>
            </a:r>
            <a:r>
              <a:rPr lang="hu-HU" sz="3200" i="1" dirty="0" err="1"/>
              <a:t>számitott</a:t>
            </a:r>
            <a:r>
              <a:rPr lang="hu-HU" sz="3200" i="1" dirty="0"/>
              <a:t> mező</a:t>
            </a:r>
            <a:r>
              <a:rPr lang="hu-HU" dirty="0"/>
              <a:t>)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990575CB-CD92-251A-B847-9DB69B8299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4598" y="1852613"/>
            <a:ext cx="5208952" cy="3214687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204687A-D0A6-8728-6382-95217D64C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491" y="1852613"/>
            <a:ext cx="3303852" cy="4662884"/>
          </a:xfrm>
          <a:prstGeom prst="rect">
            <a:avLst/>
          </a:prstGeom>
        </p:spPr>
      </p:pic>
      <p:sp>
        <p:nvSpPr>
          <p:cNvPr id="8" name="Nyíl: jobbra mutató 7">
            <a:extLst>
              <a:ext uri="{FF2B5EF4-FFF2-40B4-BE49-F238E27FC236}">
                <a16:creationId xmlns:a16="http://schemas.microsoft.com/office/drawing/2014/main" id="{0F68A202-9B4A-BCC3-6C19-72D11F93B221}"/>
              </a:ext>
            </a:extLst>
          </p:cNvPr>
          <p:cNvSpPr/>
          <p:nvPr/>
        </p:nvSpPr>
        <p:spPr>
          <a:xfrm>
            <a:off x="5924549" y="2971800"/>
            <a:ext cx="1247775" cy="914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Nyíl: lefelé mutató 8">
            <a:extLst>
              <a:ext uri="{FF2B5EF4-FFF2-40B4-BE49-F238E27FC236}">
                <a16:creationId xmlns:a16="http://schemas.microsoft.com/office/drawing/2014/main" id="{6CC9733A-1BC2-EF23-502C-80B5340ABD7D}"/>
              </a:ext>
            </a:extLst>
          </p:cNvPr>
          <p:cNvSpPr/>
          <p:nvPr/>
        </p:nvSpPr>
        <p:spPr>
          <a:xfrm rot="2476435">
            <a:off x="6332772" y="5789255"/>
            <a:ext cx="1068309" cy="11603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6354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yíl: lefelé mutató 3">
            <a:extLst>
              <a:ext uri="{FF2B5EF4-FFF2-40B4-BE49-F238E27FC236}">
                <a16:creationId xmlns:a16="http://schemas.microsoft.com/office/drawing/2014/main" id="{EC287589-B833-6F84-C893-E345C5EA44F5}"/>
              </a:ext>
            </a:extLst>
          </p:cNvPr>
          <p:cNvSpPr/>
          <p:nvPr/>
        </p:nvSpPr>
        <p:spPr>
          <a:xfrm rot="19450520">
            <a:off x="6586269" y="100846"/>
            <a:ext cx="1068309" cy="1160384"/>
          </a:xfrm>
          <a:prstGeom prst="downArrow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324D4CD-2049-DD3B-CA69-BB8CC08C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Globális eladások évtizedenként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FEDBC9A-88DF-7AA6-59B2-C5ADF3E98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7518"/>
            <a:ext cx="2683998" cy="3773852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103C13D1-633B-F6F7-046E-6821BBAE5B89}"/>
              </a:ext>
            </a:extLst>
          </p:cNvPr>
          <p:cNvSpPr txBox="1"/>
          <p:nvPr/>
        </p:nvSpPr>
        <p:spPr>
          <a:xfrm>
            <a:off x="1655098" y="5581370"/>
            <a:ext cx="1050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/>
              <a:t>Akció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BED0CBAB-1F3B-F48F-CCCD-827D8A364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564" y="1807518"/>
            <a:ext cx="2683998" cy="3773962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18DC28EC-371E-E070-1933-035AAB7E08C5}"/>
              </a:ext>
            </a:extLst>
          </p:cNvPr>
          <p:cNvSpPr txBox="1"/>
          <p:nvPr/>
        </p:nvSpPr>
        <p:spPr>
          <a:xfrm>
            <a:off x="5161730" y="5581370"/>
            <a:ext cx="1050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/>
              <a:t>Sport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DF88EB4D-684E-2941-A4DE-9D0D4A1B3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928" y="1807518"/>
            <a:ext cx="2683998" cy="3773852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D325ACCA-D638-DACE-8551-66A58B0973D2}"/>
              </a:ext>
            </a:extLst>
          </p:cNvPr>
          <p:cNvSpPr txBox="1"/>
          <p:nvPr/>
        </p:nvSpPr>
        <p:spPr>
          <a:xfrm>
            <a:off x="8235156" y="5581370"/>
            <a:ext cx="1403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 err="1"/>
              <a:t>Shooter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1063198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ABECFA-4847-BBCD-0628-0C7E35D31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Összegző statisztika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BF7C3B86-A7E8-2296-93DA-926611378C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6210" y="1881187"/>
            <a:ext cx="6010484" cy="3095625"/>
          </a:xfrm>
        </p:spPr>
      </p:pic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6A481BFA-2881-891D-2572-A9F87CF96097}"/>
              </a:ext>
            </a:extLst>
          </p:cNvPr>
          <p:cNvCxnSpPr>
            <a:cxnSpLocks/>
          </p:cNvCxnSpPr>
          <p:nvPr/>
        </p:nvCxnSpPr>
        <p:spPr>
          <a:xfrm flipH="1" flipV="1">
            <a:off x="7286694" y="2409825"/>
            <a:ext cx="1884466" cy="1193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5ADB611D-EC8F-35EB-BEA3-DD555E5A0EDB}"/>
              </a:ext>
            </a:extLst>
          </p:cNvPr>
          <p:cNvCxnSpPr>
            <a:cxnSpLocks/>
          </p:cNvCxnSpPr>
          <p:nvPr/>
        </p:nvCxnSpPr>
        <p:spPr>
          <a:xfrm flipH="1">
            <a:off x="7286694" y="3603279"/>
            <a:ext cx="1884466" cy="597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nyíllal 8">
            <a:extLst>
              <a:ext uri="{FF2B5EF4-FFF2-40B4-BE49-F238E27FC236}">
                <a16:creationId xmlns:a16="http://schemas.microsoft.com/office/drawing/2014/main" id="{FDE818CE-5B3B-0C5D-3154-388F6296D57D}"/>
              </a:ext>
            </a:extLst>
          </p:cNvPr>
          <p:cNvCxnSpPr>
            <a:cxnSpLocks/>
          </p:cNvCxnSpPr>
          <p:nvPr/>
        </p:nvCxnSpPr>
        <p:spPr>
          <a:xfrm flipH="1">
            <a:off x="7286694" y="3603279"/>
            <a:ext cx="1884466" cy="1014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93F0D9F1-98C7-A16B-F1EC-3DA78FB0027D}"/>
              </a:ext>
            </a:extLst>
          </p:cNvPr>
          <p:cNvSpPr txBox="1"/>
          <p:nvPr/>
        </p:nvSpPr>
        <p:spPr>
          <a:xfrm>
            <a:off x="9077936" y="3310891"/>
            <a:ext cx="3050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/>
              <a:t>Lényegesebbek</a:t>
            </a:r>
          </a:p>
        </p:txBody>
      </p:sp>
    </p:spTree>
    <p:extLst>
      <p:ext uri="{BB962C8B-B14F-4D97-AF65-F5344CB8AC3E}">
        <p14:creationId xmlns:p14="http://schemas.microsoft.com/office/powerpoint/2010/main" val="1225050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D6FDA3-49D7-280E-3E0C-BE44266D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Globális eladások műfajonként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FC04386A-BB57-2854-0D69-852ED785C5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1575" y="2730800"/>
            <a:ext cx="3380714" cy="981212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F1371278-F48D-9847-FFD9-8BD7C24A2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75" y="4127200"/>
            <a:ext cx="3380714" cy="342948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F3A86783-48C6-3EB7-3AFA-3EFDFA2CE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256" y="1690689"/>
            <a:ext cx="6621169" cy="3759498"/>
          </a:xfrm>
          <a:prstGeom prst="rect">
            <a:avLst/>
          </a:prstGeom>
        </p:spPr>
      </p:pic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E0ABA1BB-0635-30EB-954E-D3A7A920B259}"/>
              </a:ext>
            </a:extLst>
          </p:cNvPr>
          <p:cNvCxnSpPr>
            <a:cxnSpLocks/>
          </p:cNvCxnSpPr>
          <p:nvPr/>
        </p:nvCxnSpPr>
        <p:spPr>
          <a:xfrm flipV="1">
            <a:off x="5883407" y="4862514"/>
            <a:ext cx="0" cy="8140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76DA3219-5254-48A3-D161-E9CAA9504B04}"/>
              </a:ext>
            </a:extLst>
          </p:cNvPr>
          <p:cNvCxnSpPr>
            <a:cxnSpLocks/>
          </p:cNvCxnSpPr>
          <p:nvPr/>
        </p:nvCxnSpPr>
        <p:spPr>
          <a:xfrm flipV="1">
            <a:off x="9503285" y="4933433"/>
            <a:ext cx="0" cy="7430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E37A014E-8B3B-39F6-CD41-1E2FDA4E2D57}"/>
              </a:ext>
            </a:extLst>
          </p:cNvPr>
          <p:cNvCxnSpPr>
            <a:cxnSpLocks/>
          </p:cNvCxnSpPr>
          <p:nvPr/>
        </p:nvCxnSpPr>
        <p:spPr>
          <a:xfrm flipV="1">
            <a:off x="10417685" y="4874987"/>
            <a:ext cx="0" cy="8015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467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D743D5-BE54-56E6-6E54-6EF356E9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Összegzőtáblák az eladásokból (műfajokra bontva)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27565E6F-8032-7CD5-D8DE-8520E6254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8327" y="2015644"/>
            <a:ext cx="6682978" cy="1148637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1229A388-9060-EE70-BE09-A06BE3351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44677"/>
            <a:ext cx="2686425" cy="695422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711271A8-7AF4-47F2-3E41-6AC4C35D4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905052"/>
            <a:ext cx="2686425" cy="523948"/>
          </a:xfrm>
          <a:prstGeom prst="rect">
            <a:avLst/>
          </a:prstGeom>
        </p:spPr>
      </p:pic>
      <p:sp>
        <p:nvSpPr>
          <p:cNvPr id="11" name="Jobb oldali kapcsos zárójel 10">
            <a:extLst>
              <a:ext uri="{FF2B5EF4-FFF2-40B4-BE49-F238E27FC236}">
                <a16:creationId xmlns:a16="http://schemas.microsoft.com/office/drawing/2014/main" id="{08A9A32E-6825-583E-3DFE-C9655285AEDB}"/>
              </a:ext>
            </a:extLst>
          </p:cNvPr>
          <p:cNvSpPr/>
          <p:nvPr/>
        </p:nvSpPr>
        <p:spPr>
          <a:xfrm>
            <a:off x="3605305" y="1943854"/>
            <a:ext cx="1285592" cy="1396875"/>
          </a:xfrm>
          <a:prstGeom prst="rightBrace">
            <a:avLst>
              <a:gd name="adj1" fmla="val 8333"/>
              <a:gd name="adj2" fmla="val 48056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DA1538AC-E8F7-365D-F5E7-0CBA542FE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3876" y="3598080"/>
            <a:ext cx="1876687" cy="3029373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894F3A3A-47EA-86F4-2263-FB8639AA89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260" y="4168451"/>
            <a:ext cx="3667637" cy="2324424"/>
          </a:xfrm>
          <a:prstGeom prst="rect">
            <a:avLst/>
          </a:prstGeom>
        </p:spPr>
      </p:pic>
      <p:sp>
        <p:nvSpPr>
          <p:cNvPr id="18" name="Nyíl: jobbra mutató 17">
            <a:extLst>
              <a:ext uri="{FF2B5EF4-FFF2-40B4-BE49-F238E27FC236}">
                <a16:creationId xmlns:a16="http://schemas.microsoft.com/office/drawing/2014/main" id="{8D7675ED-93E0-CAD6-FCC7-36F142E722C9}"/>
              </a:ext>
            </a:extLst>
          </p:cNvPr>
          <p:cNvSpPr/>
          <p:nvPr/>
        </p:nvSpPr>
        <p:spPr>
          <a:xfrm>
            <a:off x="5371957" y="4714413"/>
            <a:ext cx="1158844" cy="796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8785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01BBB1-90A4-D5D6-3567-934CEC47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Akció műfaj 10 legnagyobb kiadója (eladások alapján)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C8D7273F-B514-A67A-C2E6-66D579767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677" y="1914413"/>
            <a:ext cx="5182323" cy="619211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702CAC3-2614-4192-C5F4-4E6B3DF5A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77" y="2795260"/>
            <a:ext cx="5182323" cy="72400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9323CC6A-E93B-B0B5-E132-A2ED051F0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677" y="3804188"/>
            <a:ext cx="5182323" cy="476316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1E0D62AE-D75F-B9F0-0B2E-A9D9945A1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325" y="4758459"/>
            <a:ext cx="3758012" cy="1975926"/>
          </a:xfrm>
          <a:prstGeom prst="rect">
            <a:avLst/>
          </a:prstGeom>
        </p:spPr>
      </p:pic>
      <p:sp>
        <p:nvSpPr>
          <p:cNvPr id="12" name="Nyíl: lefelé mutató 11">
            <a:extLst>
              <a:ext uri="{FF2B5EF4-FFF2-40B4-BE49-F238E27FC236}">
                <a16:creationId xmlns:a16="http://schemas.microsoft.com/office/drawing/2014/main" id="{373F7F26-6D63-7D6B-916B-367847A7B5D4}"/>
              </a:ext>
            </a:extLst>
          </p:cNvPr>
          <p:cNvSpPr/>
          <p:nvPr/>
        </p:nvSpPr>
        <p:spPr>
          <a:xfrm rot="10800000">
            <a:off x="2064191" y="4280504"/>
            <a:ext cx="398352" cy="36213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Jobb oldali kapcsos zárójel 13">
            <a:extLst>
              <a:ext uri="{FF2B5EF4-FFF2-40B4-BE49-F238E27FC236}">
                <a16:creationId xmlns:a16="http://schemas.microsoft.com/office/drawing/2014/main" id="{83BDB63B-8B85-62F8-2636-82C8EF1F9980}"/>
              </a:ext>
            </a:extLst>
          </p:cNvPr>
          <p:cNvSpPr/>
          <p:nvPr/>
        </p:nvSpPr>
        <p:spPr>
          <a:xfrm>
            <a:off x="6256555" y="2049000"/>
            <a:ext cx="1285592" cy="2070327"/>
          </a:xfrm>
          <a:prstGeom prst="rightBrace">
            <a:avLst>
              <a:gd name="adj1" fmla="val 8333"/>
              <a:gd name="adj2" fmla="val 48056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52019281-D910-113E-0477-90C805414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318" y="1698869"/>
            <a:ext cx="3620005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E18BE7-93F0-355E-A335-4E16CFE98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Eladások régiókra lebontva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77757A34-CBB7-1697-A6C0-4ED510EAE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736" y="2152457"/>
            <a:ext cx="3829364" cy="2524477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76A091E-C700-0CA8-5649-346523185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36" y="5005353"/>
            <a:ext cx="3829364" cy="485843"/>
          </a:xfrm>
          <a:prstGeom prst="rect">
            <a:avLst/>
          </a:prstGeom>
        </p:spPr>
      </p:pic>
      <p:sp>
        <p:nvSpPr>
          <p:cNvPr id="8" name="Jobb oldali kapcsos zárójel 7">
            <a:extLst>
              <a:ext uri="{FF2B5EF4-FFF2-40B4-BE49-F238E27FC236}">
                <a16:creationId xmlns:a16="http://schemas.microsoft.com/office/drawing/2014/main" id="{9BC12441-786E-EEE5-1491-464FFADB9080}"/>
              </a:ext>
            </a:extLst>
          </p:cNvPr>
          <p:cNvSpPr/>
          <p:nvPr/>
        </p:nvSpPr>
        <p:spPr>
          <a:xfrm>
            <a:off x="4366669" y="2305051"/>
            <a:ext cx="719681" cy="3009899"/>
          </a:xfrm>
          <a:prstGeom prst="rightBrace">
            <a:avLst>
              <a:gd name="adj1" fmla="val 8333"/>
              <a:gd name="adj2" fmla="val 46835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69E0368D-9E7C-972A-8A19-7F9202660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919" y="1883439"/>
            <a:ext cx="6611859" cy="380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445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781E37-BC2A-E4E5-C59C-E6B47E7A9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Használt prompt: Év választó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D440E9B6-EFAD-5025-0F1D-F39ADB5DA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22" y="2214337"/>
            <a:ext cx="4858428" cy="3024413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1391D380-9C5D-DF4D-F1EE-132AB2419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14337"/>
            <a:ext cx="4858428" cy="302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725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13C8F7-71D6-B2BC-ED84-23458FE75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Akció műfaj eladásai évenként(prompt)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C1B6EE18-0CED-06ED-60BF-BE09235600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5240" y="2795499"/>
            <a:ext cx="1581371" cy="1267002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578EA79D-8406-6DBC-789D-2A429E372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86" y="4446644"/>
            <a:ext cx="4352925" cy="147658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7805A55C-6AC4-5039-467E-EB6FC3213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251" y="1542652"/>
            <a:ext cx="5557624" cy="3988321"/>
          </a:xfrm>
          <a:prstGeom prst="rect">
            <a:avLst/>
          </a:prstGeom>
        </p:spPr>
      </p:pic>
      <p:sp>
        <p:nvSpPr>
          <p:cNvPr id="10" name="Jobb oldali kapcsos zárójel 9">
            <a:extLst>
              <a:ext uri="{FF2B5EF4-FFF2-40B4-BE49-F238E27FC236}">
                <a16:creationId xmlns:a16="http://schemas.microsoft.com/office/drawing/2014/main" id="{E6CCE957-272D-C1C5-3101-F3130A9CB9D8}"/>
              </a:ext>
            </a:extLst>
          </p:cNvPr>
          <p:cNvSpPr/>
          <p:nvPr/>
        </p:nvSpPr>
        <p:spPr>
          <a:xfrm>
            <a:off x="5053179" y="2105025"/>
            <a:ext cx="925503" cy="2894069"/>
          </a:xfrm>
          <a:prstGeom prst="rightBrace">
            <a:avLst>
              <a:gd name="adj1" fmla="val 8333"/>
              <a:gd name="adj2" fmla="val 48056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269091C2-68EA-3A58-6668-DD7C19BD5D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0702" y="1822383"/>
            <a:ext cx="2162477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07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A72F25-B1F6-C54F-E8B9-CA7B194E8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Sport műfaj eladásai évenként(prompt)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FEC82CCC-3108-16B7-543C-C503C28AB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4355" y="2752780"/>
            <a:ext cx="1543265" cy="1171739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47841FC-A56D-5BC8-18CE-00D7DD938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775" y="2081267"/>
            <a:ext cx="2295845" cy="495369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7C23668D-C250-B56D-D28D-0D1913089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09" y="4100663"/>
            <a:ext cx="3658111" cy="781159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DAED2CCC-907A-4F26-B255-BB9A09210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975" y="1690688"/>
            <a:ext cx="6034513" cy="4605686"/>
          </a:xfrm>
          <a:prstGeom prst="rect">
            <a:avLst/>
          </a:prstGeom>
        </p:spPr>
      </p:pic>
      <p:sp>
        <p:nvSpPr>
          <p:cNvPr id="12" name="Jobb oldali kapcsos zárójel 11">
            <a:extLst>
              <a:ext uri="{FF2B5EF4-FFF2-40B4-BE49-F238E27FC236}">
                <a16:creationId xmlns:a16="http://schemas.microsoft.com/office/drawing/2014/main" id="{1533D83B-6D52-5FFF-0286-9B855A585596}"/>
              </a:ext>
            </a:extLst>
          </p:cNvPr>
          <p:cNvSpPr/>
          <p:nvPr/>
        </p:nvSpPr>
        <p:spPr>
          <a:xfrm>
            <a:off x="4427308" y="2270141"/>
            <a:ext cx="925503" cy="2317718"/>
          </a:xfrm>
          <a:prstGeom prst="rightBrace">
            <a:avLst>
              <a:gd name="adj1" fmla="val 8333"/>
              <a:gd name="adj2" fmla="val 48056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46958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BEB22D4-92A5-1A0C-3638-22A30F85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Egymásd mellett a két legnagyobb eladással rendelkező műfaj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B728DE22-6182-0965-BAFD-D572D4236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1697"/>
            <a:ext cx="5010150" cy="3823867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CDAE33CE-FAD6-7F91-7F94-55748EB7C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09" y="1911696"/>
            <a:ext cx="5010150" cy="3823867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E9489239-9EFC-8ED5-A616-15794874C788}"/>
              </a:ext>
            </a:extLst>
          </p:cNvPr>
          <p:cNvSpPr txBox="1"/>
          <p:nvPr/>
        </p:nvSpPr>
        <p:spPr>
          <a:xfrm>
            <a:off x="2824162" y="5735563"/>
            <a:ext cx="1038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/>
              <a:t>Akció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749AE615-CFAB-A58F-4F5F-B408C383F47B}"/>
              </a:ext>
            </a:extLst>
          </p:cNvPr>
          <p:cNvSpPr txBox="1"/>
          <p:nvPr/>
        </p:nvSpPr>
        <p:spPr>
          <a:xfrm>
            <a:off x="8531071" y="5735563"/>
            <a:ext cx="1038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/>
              <a:t>Sport</a:t>
            </a:r>
          </a:p>
        </p:txBody>
      </p:sp>
    </p:spTree>
    <p:extLst>
      <p:ext uri="{BB962C8B-B14F-4D97-AF65-F5344CB8AC3E}">
        <p14:creationId xmlns:p14="http://schemas.microsoft.com/office/powerpoint/2010/main" val="2750697100"/>
      </p:ext>
    </p:extLst>
  </p:cSld>
  <p:clrMapOvr>
    <a:masterClrMapping/>
  </p:clrMapOvr>
</p:sld>
</file>

<file path=ppt/theme/theme1.xml><?xml version="1.0" encoding="utf-8"?>
<a:theme xmlns:a="http://schemas.openxmlformats.org/drawingml/2006/main" name="Mélység">
  <a:themeElements>
    <a:clrScheme name="Mélység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Mélység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élység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TM04033923[[fn=Mélység]]</Template>
  <TotalTime>54</TotalTime>
  <Words>109</Words>
  <Application>Microsoft Office PowerPoint</Application>
  <PresentationFormat>Szélesvásznú</PresentationFormat>
  <Paragraphs>22</Paragraphs>
  <Slides>13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7" baseType="lpstr">
      <vt:lpstr>Aptos</vt:lpstr>
      <vt:lpstr>Arial</vt:lpstr>
      <vt:lpstr>Corbel</vt:lpstr>
      <vt:lpstr>Mélység</vt:lpstr>
      <vt:lpstr>Videójáték eladások adathalmaz</vt:lpstr>
      <vt:lpstr>Teljes Process Flow:</vt:lpstr>
      <vt:lpstr>Query builder task(illetve 2 számitott mező)</vt:lpstr>
      <vt:lpstr>Globális eladások évtizedenként</vt:lpstr>
      <vt:lpstr>Összegző statisztika</vt:lpstr>
      <vt:lpstr>Globális eladások műfajonként</vt:lpstr>
      <vt:lpstr>Összegzőtáblák az eladásokból (műfajokra bontva)</vt:lpstr>
      <vt:lpstr>Akció műfaj 10 legnagyobb kiadója (eladások alapján)</vt:lpstr>
      <vt:lpstr>Eladások régiókra lebontva</vt:lpstr>
      <vt:lpstr>Használt prompt: Év választó</vt:lpstr>
      <vt:lpstr>Akció műfaj eladásai évenként(prompt)</vt:lpstr>
      <vt:lpstr>Sport műfaj eladásai évenként(prompt)</vt:lpstr>
      <vt:lpstr>Egymásd mellett a két legnagyobb eladással rendelkező műfaj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Ádám</dc:creator>
  <cp:lastModifiedBy>Nagy Ádám</cp:lastModifiedBy>
  <cp:revision>1</cp:revision>
  <dcterms:created xsi:type="dcterms:W3CDTF">2025-05-18T14:13:31Z</dcterms:created>
  <dcterms:modified xsi:type="dcterms:W3CDTF">2025-05-18T15:07:44Z</dcterms:modified>
</cp:coreProperties>
</file>