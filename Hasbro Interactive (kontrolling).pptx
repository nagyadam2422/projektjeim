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1E9D3A-AEF8-46FF-8EA1-17414A5B5C7C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962C867-EA78-4AC0-A948-45F745FAD1BE}">
      <dgm:prSet/>
      <dgm:spPr/>
      <dgm:t>
        <a:bodyPr/>
        <a:lstStyle/>
        <a:p>
          <a:r>
            <a:rPr lang="en-US"/>
            <a:t>1980-as évek: Milton Bradley – VecTrex videojáték-rendszer (kudarc).</a:t>
          </a:r>
        </a:p>
      </dgm:t>
    </dgm:pt>
    <dgm:pt modelId="{408D0C5A-C45B-4CC2-BDF5-DA486698E41E}" type="parTrans" cxnId="{075CB761-379F-4701-91D7-80548EA328A5}">
      <dgm:prSet/>
      <dgm:spPr/>
      <dgm:t>
        <a:bodyPr/>
        <a:lstStyle/>
        <a:p>
          <a:endParaRPr lang="en-US"/>
        </a:p>
      </dgm:t>
    </dgm:pt>
    <dgm:pt modelId="{E74B77EE-A024-4159-9369-FD4AD8E9F36E}" type="sibTrans" cxnId="{075CB761-379F-4701-91D7-80548EA328A5}">
      <dgm:prSet/>
      <dgm:spPr/>
      <dgm:t>
        <a:bodyPr/>
        <a:lstStyle/>
        <a:p>
          <a:endParaRPr lang="en-US"/>
        </a:p>
      </dgm:t>
    </dgm:pt>
    <dgm:pt modelId="{B992BCC5-8E45-420F-9476-E14E5741D421}">
      <dgm:prSet/>
      <dgm:spPr/>
      <dgm:t>
        <a:bodyPr/>
        <a:lstStyle/>
        <a:p>
          <a:r>
            <a:rPr lang="en-US"/>
            <a:t>Külső fejlesztések Nintendóra, majd CD-ROM játékok.</a:t>
          </a:r>
        </a:p>
      </dgm:t>
    </dgm:pt>
    <dgm:pt modelId="{AC425D21-5042-4447-94D3-CE66287C22DB}" type="parTrans" cxnId="{D7781188-8D87-4050-828B-84A56156BDA7}">
      <dgm:prSet/>
      <dgm:spPr/>
      <dgm:t>
        <a:bodyPr/>
        <a:lstStyle/>
        <a:p>
          <a:endParaRPr lang="en-US"/>
        </a:p>
      </dgm:t>
    </dgm:pt>
    <dgm:pt modelId="{D114A700-2AAD-4112-A624-CFBB356119BB}" type="sibTrans" cxnId="{D7781188-8D87-4050-828B-84A56156BDA7}">
      <dgm:prSet/>
      <dgm:spPr/>
      <dgm:t>
        <a:bodyPr/>
        <a:lstStyle/>
        <a:p>
          <a:endParaRPr lang="en-US"/>
        </a:p>
      </dgm:t>
    </dgm:pt>
    <dgm:pt modelId="{967C433D-5247-4A53-BCDE-43AE3D5087E5}">
      <dgm:prSet/>
      <dgm:spPr/>
      <dgm:t>
        <a:bodyPr/>
        <a:lstStyle/>
        <a:p>
          <a:r>
            <a:rPr lang="en-US"/>
            <a:t>Virtuális valóság projekt 1995-ben megbukott.</a:t>
          </a:r>
        </a:p>
      </dgm:t>
    </dgm:pt>
    <dgm:pt modelId="{3548D42A-BEC1-4E91-84D4-377302B6AC3D}" type="parTrans" cxnId="{55C3EB6A-D010-474C-BA91-8C4FB7CCC2C7}">
      <dgm:prSet/>
      <dgm:spPr/>
      <dgm:t>
        <a:bodyPr/>
        <a:lstStyle/>
        <a:p>
          <a:endParaRPr lang="en-US"/>
        </a:p>
      </dgm:t>
    </dgm:pt>
    <dgm:pt modelId="{9C9E73BF-EB37-42B3-8DFC-547F8919D265}" type="sibTrans" cxnId="{55C3EB6A-D010-474C-BA91-8C4FB7CCC2C7}">
      <dgm:prSet/>
      <dgm:spPr/>
      <dgm:t>
        <a:bodyPr/>
        <a:lstStyle/>
        <a:p>
          <a:endParaRPr lang="en-US"/>
        </a:p>
      </dgm:t>
    </dgm:pt>
    <dgm:pt modelId="{EE72FDD9-6E72-4F67-B71D-BBB8FCDAF5D9}">
      <dgm:prSet/>
      <dgm:spPr/>
      <dgm:t>
        <a:bodyPr/>
        <a:lstStyle/>
        <a:p>
          <a:r>
            <a:rPr lang="en-US"/>
            <a:t>Ez vezetett a Hasbro Interactive megalapításához.</a:t>
          </a:r>
        </a:p>
      </dgm:t>
    </dgm:pt>
    <dgm:pt modelId="{68A27FC7-3B71-443A-8110-28FC84E3C554}" type="parTrans" cxnId="{A696EAC5-313E-45EA-888B-1407D7E06EEB}">
      <dgm:prSet/>
      <dgm:spPr/>
      <dgm:t>
        <a:bodyPr/>
        <a:lstStyle/>
        <a:p>
          <a:endParaRPr lang="en-US"/>
        </a:p>
      </dgm:t>
    </dgm:pt>
    <dgm:pt modelId="{C045D94A-D44F-44A0-8756-5511C81A2B85}" type="sibTrans" cxnId="{A696EAC5-313E-45EA-888B-1407D7E06EEB}">
      <dgm:prSet/>
      <dgm:spPr/>
      <dgm:t>
        <a:bodyPr/>
        <a:lstStyle/>
        <a:p>
          <a:endParaRPr lang="en-US"/>
        </a:p>
      </dgm:t>
    </dgm:pt>
    <dgm:pt modelId="{D60673E0-8593-4D52-A6CB-A899388391F6}" type="pres">
      <dgm:prSet presAssocID="{831E9D3A-AEF8-46FF-8EA1-17414A5B5C7C}" presName="matrix" presStyleCnt="0">
        <dgm:presLayoutVars>
          <dgm:chMax val="1"/>
          <dgm:dir/>
          <dgm:resizeHandles val="exact"/>
        </dgm:presLayoutVars>
      </dgm:prSet>
      <dgm:spPr/>
    </dgm:pt>
    <dgm:pt modelId="{1A4C49E2-D8D0-4D91-B438-EFDFED4C672C}" type="pres">
      <dgm:prSet presAssocID="{831E9D3A-AEF8-46FF-8EA1-17414A5B5C7C}" presName="diamond" presStyleLbl="bgShp" presStyleIdx="0" presStyleCnt="1"/>
      <dgm:spPr/>
    </dgm:pt>
    <dgm:pt modelId="{A40BAB24-3F18-47B5-8BFF-55D72F38731D}" type="pres">
      <dgm:prSet presAssocID="{831E9D3A-AEF8-46FF-8EA1-17414A5B5C7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6053EAA-6C71-44A8-97C5-568691CC049D}" type="pres">
      <dgm:prSet presAssocID="{831E9D3A-AEF8-46FF-8EA1-17414A5B5C7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AB6BB49-3156-47EE-B691-E98B5963A5C9}" type="pres">
      <dgm:prSet presAssocID="{831E9D3A-AEF8-46FF-8EA1-17414A5B5C7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72C625B-6B4E-4A15-B495-85F084EDF30D}" type="pres">
      <dgm:prSet presAssocID="{831E9D3A-AEF8-46FF-8EA1-17414A5B5C7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D36A320-B634-4074-A136-CEE8C49C8D7E}" type="presOf" srcId="{967C433D-5247-4A53-BCDE-43AE3D5087E5}" destId="{DAB6BB49-3156-47EE-B691-E98B5963A5C9}" srcOrd="0" destOrd="0" presId="urn:microsoft.com/office/officeart/2005/8/layout/matrix3"/>
    <dgm:cxn modelId="{075CB761-379F-4701-91D7-80548EA328A5}" srcId="{831E9D3A-AEF8-46FF-8EA1-17414A5B5C7C}" destId="{D962C867-EA78-4AC0-A948-45F745FAD1BE}" srcOrd="0" destOrd="0" parTransId="{408D0C5A-C45B-4CC2-BDF5-DA486698E41E}" sibTransId="{E74B77EE-A024-4159-9369-FD4AD8E9F36E}"/>
    <dgm:cxn modelId="{55C3EB6A-D010-474C-BA91-8C4FB7CCC2C7}" srcId="{831E9D3A-AEF8-46FF-8EA1-17414A5B5C7C}" destId="{967C433D-5247-4A53-BCDE-43AE3D5087E5}" srcOrd="2" destOrd="0" parTransId="{3548D42A-BEC1-4E91-84D4-377302B6AC3D}" sibTransId="{9C9E73BF-EB37-42B3-8DFC-547F8919D265}"/>
    <dgm:cxn modelId="{F9417771-7ED5-4A1D-878E-B86BD33DF2D1}" type="presOf" srcId="{D962C867-EA78-4AC0-A948-45F745FAD1BE}" destId="{A40BAB24-3F18-47B5-8BFF-55D72F38731D}" srcOrd="0" destOrd="0" presId="urn:microsoft.com/office/officeart/2005/8/layout/matrix3"/>
    <dgm:cxn modelId="{D7781188-8D87-4050-828B-84A56156BDA7}" srcId="{831E9D3A-AEF8-46FF-8EA1-17414A5B5C7C}" destId="{B992BCC5-8E45-420F-9476-E14E5741D421}" srcOrd="1" destOrd="0" parTransId="{AC425D21-5042-4447-94D3-CE66287C22DB}" sibTransId="{D114A700-2AAD-4112-A624-CFBB356119BB}"/>
    <dgm:cxn modelId="{A696EAC5-313E-45EA-888B-1407D7E06EEB}" srcId="{831E9D3A-AEF8-46FF-8EA1-17414A5B5C7C}" destId="{EE72FDD9-6E72-4F67-B71D-BBB8FCDAF5D9}" srcOrd="3" destOrd="0" parTransId="{68A27FC7-3B71-443A-8110-28FC84E3C554}" sibTransId="{C045D94A-D44F-44A0-8756-5511C81A2B85}"/>
    <dgm:cxn modelId="{A35A5CE9-742D-4F31-A4AB-4AD2507690C8}" type="presOf" srcId="{831E9D3A-AEF8-46FF-8EA1-17414A5B5C7C}" destId="{D60673E0-8593-4D52-A6CB-A899388391F6}" srcOrd="0" destOrd="0" presId="urn:microsoft.com/office/officeart/2005/8/layout/matrix3"/>
    <dgm:cxn modelId="{5D35A6E9-73F7-4DAB-9030-CA8FF5850BA6}" type="presOf" srcId="{B992BCC5-8E45-420F-9476-E14E5741D421}" destId="{E6053EAA-6C71-44A8-97C5-568691CC049D}" srcOrd="0" destOrd="0" presId="urn:microsoft.com/office/officeart/2005/8/layout/matrix3"/>
    <dgm:cxn modelId="{B15426F6-7C3D-4A6F-AD29-193DE98A11CF}" type="presOf" srcId="{EE72FDD9-6E72-4F67-B71D-BBB8FCDAF5D9}" destId="{472C625B-6B4E-4A15-B495-85F084EDF30D}" srcOrd="0" destOrd="0" presId="urn:microsoft.com/office/officeart/2005/8/layout/matrix3"/>
    <dgm:cxn modelId="{573CE5D3-E534-4740-9FB1-EDB65C1A7F58}" type="presParOf" srcId="{D60673E0-8593-4D52-A6CB-A899388391F6}" destId="{1A4C49E2-D8D0-4D91-B438-EFDFED4C672C}" srcOrd="0" destOrd="0" presId="urn:microsoft.com/office/officeart/2005/8/layout/matrix3"/>
    <dgm:cxn modelId="{012E447B-FA7C-42AE-831D-C9DD52BDA93D}" type="presParOf" srcId="{D60673E0-8593-4D52-A6CB-A899388391F6}" destId="{A40BAB24-3F18-47B5-8BFF-55D72F38731D}" srcOrd="1" destOrd="0" presId="urn:microsoft.com/office/officeart/2005/8/layout/matrix3"/>
    <dgm:cxn modelId="{C61471A7-EB8D-4B4E-83CE-CA44CB576214}" type="presParOf" srcId="{D60673E0-8593-4D52-A6CB-A899388391F6}" destId="{E6053EAA-6C71-44A8-97C5-568691CC049D}" srcOrd="2" destOrd="0" presId="urn:microsoft.com/office/officeart/2005/8/layout/matrix3"/>
    <dgm:cxn modelId="{6779FFCF-7689-4358-8C88-E32A0A896DF1}" type="presParOf" srcId="{D60673E0-8593-4D52-A6CB-A899388391F6}" destId="{DAB6BB49-3156-47EE-B691-E98B5963A5C9}" srcOrd="3" destOrd="0" presId="urn:microsoft.com/office/officeart/2005/8/layout/matrix3"/>
    <dgm:cxn modelId="{766B3146-402E-4830-8DBE-CCA2274B1069}" type="presParOf" srcId="{D60673E0-8593-4D52-A6CB-A899388391F6}" destId="{472C625B-6B4E-4A15-B495-85F084EDF30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66D96A-4881-4E58-8A8D-384EA33367CA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0F2501F-326D-4D75-89A7-CAB259594C3A}">
      <dgm:prSet/>
      <dgm:spPr/>
      <dgm:t>
        <a:bodyPr/>
        <a:lstStyle/>
        <a:p>
          <a:r>
            <a:rPr lang="en-US" dirty="0"/>
            <a:t>1995-ben Alan Hassenfeld </a:t>
          </a:r>
          <a:r>
            <a:rPr lang="en-US" dirty="0" err="1"/>
            <a:t>felkérte</a:t>
          </a:r>
          <a:r>
            <a:rPr lang="en-US" dirty="0"/>
            <a:t> Tom Dusenberry-t </a:t>
          </a:r>
          <a:r>
            <a:rPr lang="en-US" dirty="0" err="1"/>
            <a:t>az</a:t>
          </a:r>
          <a:r>
            <a:rPr lang="en-US" dirty="0"/>
            <a:t> </a:t>
          </a:r>
          <a:r>
            <a:rPr lang="en-US" dirty="0" err="1"/>
            <a:t>új</a:t>
          </a:r>
          <a:r>
            <a:rPr lang="en-US" dirty="0"/>
            <a:t> </a:t>
          </a:r>
          <a:r>
            <a:rPr lang="en-US" dirty="0" err="1"/>
            <a:t>divízió</a:t>
          </a:r>
          <a:r>
            <a:rPr lang="en-US" dirty="0"/>
            <a:t> </a:t>
          </a:r>
          <a:r>
            <a:rPr lang="en-US" dirty="0" err="1"/>
            <a:t>vezetésére</a:t>
          </a:r>
          <a:r>
            <a:rPr lang="en-US" dirty="0"/>
            <a:t>.</a:t>
          </a:r>
        </a:p>
      </dgm:t>
    </dgm:pt>
    <dgm:pt modelId="{05492198-DE19-437E-8747-A2C194604955}" type="parTrans" cxnId="{A7ED8339-7B9C-4F87-9FFB-F618A7F1230D}">
      <dgm:prSet/>
      <dgm:spPr/>
      <dgm:t>
        <a:bodyPr/>
        <a:lstStyle/>
        <a:p>
          <a:endParaRPr lang="en-US"/>
        </a:p>
      </dgm:t>
    </dgm:pt>
    <dgm:pt modelId="{86016A13-DF8E-40C8-B579-22B5B67F9218}" type="sibTrans" cxnId="{A7ED8339-7B9C-4F87-9FFB-F618A7F1230D}">
      <dgm:prSet/>
      <dgm:spPr/>
      <dgm:t>
        <a:bodyPr/>
        <a:lstStyle/>
        <a:p>
          <a:endParaRPr lang="en-US"/>
        </a:p>
      </dgm:t>
    </dgm:pt>
    <dgm:pt modelId="{F4CAE2A1-3D56-434B-AC05-0B6949913C49}">
      <dgm:prSet/>
      <dgm:spPr/>
      <dgm:t>
        <a:bodyPr/>
        <a:lstStyle/>
        <a:p>
          <a:r>
            <a:rPr lang="en-US" dirty="0" err="1"/>
            <a:t>Önálló</a:t>
          </a:r>
          <a:r>
            <a:rPr lang="en-US" dirty="0"/>
            <a:t> </a:t>
          </a:r>
          <a:r>
            <a:rPr lang="en-US" dirty="0" err="1"/>
            <a:t>egységként</a:t>
          </a:r>
          <a:r>
            <a:rPr lang="en-US" dirty="0"/>
            <a:t> </a:t>
          </a:r>
          <a:r>
            <a:rPr lang="en-US" dirty="0" err="1"/>
            <a:t>működött</a:t>
          </a:r>
          <a:r>
            <a:rPr lang="en-US" dirty="0"/>
            <a:t> </a:t>
          </a:r>
          <a:r>
            <a:rPr lang="en-US" dirty="0" err="1"/>
            <a:t>Beverlyben</a:t>
          </a:r>
          <a:r>
            <a:rPr lang="en-US" dirty="0"/>
            <a:t> (Parker Brothers </a:t>
          </a:r>
          <a:r>
            <a:rPr lang="en-US" dirty="0" err="1"/>
            <a:t>központ</a:t>
          </a:r>
          <a:r>
            <a:rPr lang="en-US" dirty="0"/>
            <a:t>).</a:t>
          </a:r>
        </a:p>
      </dgm:t>
    </dgm:pt>
    <dgm:pt modelId="{45AA6D08-7051-430A-9DD2-22A754A17DED}" type="parTrans" cxnId="{4940A1B9-3ACB-4A96-A8B0-49E1217AA886}">
      <dgm:prSet/>
      <dgm:spPr/>
      <dgm:t>
        <a:bodyPr/>
        <a:lstStyle/>
        <a:p>
          <a:endParaRPr lang="en-US"/>
        </a:p>
      </dgm:t>
    </dgm:pt>
    <dgm:pt modelId="{1204EFB8-B0B2-4637-A4B8-4226E390BD98}" type="sibTrans" cxnId="{4940A1B9-3ACB-4A96-A8B0-49E1217AA886}">
      <dgm:prSet/>
      <dgm:spPr/>
      <dgm:t>
        <a:bodyPr/>
        <a:lstStyle/>
        <a:p>
          <a:endParaRPr lang="en-US"/>
        </a:p>
      </dgm:t>
    </dgm:pt>
    <dgm:pt modelId="{5BD9FE1B-DDC0-433D-ACC0-EC1ED389BC84}">
      <dgm:prSet/>
      <dgm:spPr/>
      <dgm:t>
        <a:bodyPr/>
        <a:lstStyle/>
        <a:p>
          <a:r>
            <a:rPr lang="en-US"/>
            <a:t>Digitális változatok: Monopoly, Scrabble, Candy Land, Battleship.</a:t>
          </a:r>
        </a:p>
      </dgm:t>
    </dgm:pt>
    <dgm:pt modelId="{86979F1E-E65D-4413-9CC6-08A3677921E1}" type="parTrans" cxnId="{7D08F0B5-FE8D-46E9-BE78-B29FDA2CFDC3}">
      <dgm:prSet/>
      <dgm:spPr/>
      <dgm:t>
        <a:bodyPr/>
        <a:lstStyle/>
        <a:p>
          <a:endParaRPr lang="en-US"/>
        </a:p>
      </dgm:t>
    </dgm:pt>
    <dgm:pt modelId="{815BE296-16F4-4BE4-A9B1-7D707C7CF844}" type="sibTrans" cxnId="{7D08F0B5-FE8D-46E9-BE78-B29FDA2CFDC3}">
      <dgm:prSet/>
      <dgm:spPr/>
      <dgm:t>
        <a:bodyPr/>
        <a:lstStyle/>
        <a:p>
          <a:endParaRPr lang="en-US"/>
        </a:p>
      </dgm:t>
    </dgm:pt>
    <dgm:pt modelId="{2F7CB901-3211-44EE-90E2-58308116B993}">
      <dgm:prSet/>
      <dgm:spPr/>
      <dgm:t>
        <a:bodyPr/>
        <a:lstStyle/>
        <a:p>
          <a:r>
            <a:rPr lang="en-US"/>
            <a:t>Cél: a márkák digitális kiterjesztése.</a:t>
          </a:r>
        </a:p>
      </dgm:t>
    </dgm:pt>
    <dgm:pt modelId="{64732291-4873-4422-9714-AE4F1BB81CC5}" type="parTrans" cxnId="{46E2231A-914D-4BA7-A34B-75DDC1B3F74B}">
      <dgm:prSet/>
      <dgm:spPr/>
      <dgm:t>
        <a:bodyPr/>
        <a:lstStyle/>
        <a:p>
          <a:endParaRPr lang="en-US"/>
        </a:p>
      </dgm:t>
    </dgm:pt>
    <dgm:pt modelId="{4CBF8ACC-503D-421B-B6BF-46448C33CCD8}" type="sibTrans" cxnId="{46E2231A-914D-4BA7-A34B-75DDC1B3F74B}">
      <dgm:prSet/>
      <dgm:spPr/>
      <dgm:t>
        <a:bodyPr/>
        <a:lstStyle/>
        <a:p>
          <a:endParaRPr lang="en-US"/>
        </a:p>
      </dgm:t>
    </dgm:pt>
    <dgm:pt modelId="{FC2CA394-0BF3-43D6-9176-99E3ACEFCA4C}" type="pres">
      <dgm:prSet presAssocID="{0666D96A-4881-4E58-8A8D-384EA33367CA}" presName="diagram" presStyleCnt="0">
        <dgm:presLayoutVars>
          <dgm:dir/>
          <dgm:resizeHandles val="exact"/>
        </dgm:presLayoutVars>
      </dgm:prSet>
      <dgm:spPr/>
    </dgm:pt>
    <dgm:pt modelId="{598D7AC2-CFE7-4728-BABE-889354B47627}" type="pres">
      <dgm:prSet presAssocID="{F0F2501F-326D-4D75-89A7-CAB259594C3A}" presName="node" presStyleLbl="node1" presStyleIdx="0" presStyleCnt="4">
        <dgm:presLayoutVars>
          <dgm:bulletEnabled val="1"/>
        </dgm:presLayoutVars>
      </dgm:prSet>
      <dgm:spPr/>
    </dgm:pt>
    <dgm:pt modelId="{CAD5C4DF-8BD2-46EC-A5F3-13FD4A39DCB5}" type="pres">
      <dgm:prSet presAssocID="{86016A13-DF8E-40C8-B579-22B5B67F9218}" presName="sibTrans" presStyleLbl="sibTrans2D1" presStyleIdx="0" presStyleCnt="3"/>
      <dgm:spPr/>
    </dgm:pt>
    <dgm:pt modelId="{C5DDC468-6D0E-4993-9F8A-B33437F2FF84}" type="pres">
      <dgm:prSet presAssocID="{86016A13-DF8E-40C8-B579-22B5B67F9218}" presName="connectorText" presStyleLbl="sibTrans2D1" presStyleIdx="0" presStyleCnt="3"/>
      <dgm:spPr/>
    </dgm:pt>
    <dgm:pt modelId="{B72D6AE3-A693-4AF7-A137-69E40AB0D2E1}" type="pres">
      <dgm:prSet presAssocID="{F4CAE2A1-3D56-434B-AC05-0B6949913C49}" presName="node" presStyleLbl="node1" presStyleIdx="1" presStyleCnt="4">
        <dgm:presLayoutVars>
          <dgm:bulletEnabled val="1"/>
        </dgm:presLayoutVars>
      </dgm:prSet>
      <dgm:spPr/>
    </dgm:pt>
    <dgm:pt modelId="{AAC3C025-0139-4503-82A1-F53FBD9434E4}" type="pres">
      <dgm:prSet presAssocID="{1204EFB8-B0B2-4637-A4B8-4226E390BD98}" presName="sibTrans" presStyleLbl="sibTrans2D1" presStyleIdx="1" presStyleCnt="3"/>
      <dgm:spPr/>
    </dgm:pt>
    <dgm:pt modelId="{95DE5899-A7C7-42D5-A075-99AF97264077}" type="pres">
      <dgm:prSet presAssocID="{1204EFB8-B0B2-4637-A4B8-4226E390BD98}" presName="connectorText" presStyleLbl="sibTrans2D1" presStyleIdx="1" presStyleCnt="3"/>
      <dgm:spPr/>
    </dgm:pt>
    <dgm:pt modelId="{0C47D74F-5FCC-4117-91F2-A13F5C05D3F7}" type="pres">
      <dgm:prSet presAssocID="{5BD9FE1B-DDC0-433D-ACC0-EC1ED389BC84}" presName="node" presStyleLbl="node1" presStyleIdx="2" presStyleCnt="4">
        <dgm:presLayoutVars>
          <dgm:bulletEnabled val="1"/>
        </dgm:presLayoutVars>
      </dgm:prSet>
      <dgm:spPr/>
    </dgm:pt>
    <dgm:pt modelId="{4EE23100-BC14-4CE5-8A6C-4426ACEAC0AB}" type="pres">
      <dgm:prSet presAssocID="{815BE296-16F4-4BE4-A9B1-7D707C7CF844}" presName="sibTrans" presStyleLbl="sibTrans2D1" presStyleIdx="2" presStyleCnt="3"/>
      <dgm:spPr/>
    </dgm:pt>
    <dgm:pt modelId="{7CE3F0D4-E8BA-4F83-8E44-B1D0B6BC3AD0}" type="pres">
      <dgm:prSet presAssocID="{815BE296-16F4-4BE4-A9B1-7D707C7CF844}" presName="connectorText" presStyleLbl="sibTrans2D1" presStyleIdx="2" presStyleCnt="3"/>
      <dgm:spPr/>
    </dgm:pt>
    <dgm:pt modelId="{A2401A58-F36A-4B41-A820-7683002BC9C6}" type="pres">
      <dgm:prSet presAssocID="{2F7CB901-3211-44EE-90E2-58308116B993}" presName="node" presStyleLbl="node1" presStyleIdx="3" presStyleCnt="4">
        <dgm:presLayoutVars>
          <dgm:bulletEnabled val="1"/>
        </dgm:presLayoutVars>
      </dgm:prSet>
      <dgm:spPr/>
    </dgm:pt>
  </dgm:ptLst>
  <dgm:cxnLst>
    <dgm:cxn modelId="{933BC102-B861-416C-B2A7-A5A130DB66DF}" type="presOf" srcId="{2F7CB901-3211-44EE-90E2-58308116B993}" destId="{A2401A58-F36A-4B41-A820-7683002BC9C6}" srcOrd="0" destOrd="0" presId="urn:microsoft.com/office/officeart/2005/8/layout/process5"/>
    <dgm:cxn modelId="{46E2231A-914D-4BA7-A34B-75DDC1B3F74B}" srcId="{0666D96A-4881-4E58-8A8D-384EA33367CA}" destId="{2F7CB901-3211-44EE-90E2-58308116B993}" srcOrd="3" destOrd="0" parTransId="{64732291-4873-4422-9714-AE4F1BB81CC5}" sibTransId="{4CBF8ACC-503D-421B-B6BF-46448C33CCD8}"/>
    <dgm:cxn modelId="{23D0B920-B755-4BE0-8B3C-3B3B4797EED2}" type="presOf" srcId="{86016A13-DF8E-40C8-B579-22B5B67F9218}" destId="{CAD5C4DF-8BD2-46EC-A5F3-13FD4A39DCB5}" srcOrd="0" destOrd="0" presId="urn:microsoft.com/office/officeart/2005/8/layout/process5"/>
    <dgm:cxn modelId="{A7C47E36-9191-402E-9181-81A9DA3CB95B}" type="presOf" srcId="{815BE296-16F4-4BE4-A9B1-7D707C7CF844}" destId="{7CE3F0D4-E8BA-4F83-8E44-B1D0B6BC3AD0}" srcOrd="1" destOrd="0" presId="urn:microsoft.com/office/officeart/2005/8/layout/process5"/>
    <dgm:cxn modelId="{A7ED8339-7B9C-4F87-9FFB-F618A7F1230D}" srcId="{0666D96A-4881-4E58-8A8D-384EA33367CA}" destId="{F0F2501F-326D-4D75-89A7-CAB259594C3A}" srcOrd="0" destOrd="0" parTransId="{05492198-DE19-437E-8747-A2C194604955}" sibTransId="{86016A13-DF8E-40C8-B579-22B5B67F9218}"/>
    <dgm:cxn modelId="{976DCE4B-CA9D-4348-B636-24248847C4BD}" type="presOf" srcId="{1204EFB8-B0B2-4637-A4B8-4226E390BD98}" destId="{AAC3C025-0139-4503-82A1-F53FBD9434E4}" srcOrd="0" destOrd="0" presId="urn:microsoft.com/office/officeart/2005/8/layout/process5"/>
    <dgm:cxn modelId="{68E53155-AB1A-4AFB-9CA5-7F9D0012034C}" type="presOf" srcId="{F0F2501F-326D-4D75-89A7-CAB259594C3A}" destId="{598D7AC2-CFE7-4728-BABE-889354B47627}" srcOrd="0" destOrd="0" presId="urn:microsoft.com/office/officeart/2005/8/layout/process5"/>
    <dgm:cxn modelId="{20DE3C77-DE69-40FA-BCD5-395DE38934F9}" type="presOf" srcId="{1204EFB8-B0B2-4637-A4B8-4226E390BD98}" destId="{95DE5899-A7C7-42D5-A075-99AF97264077}" srcOrd="1" destOrd="0" presId="urn:microsoft.com/office/officeart/2005/8/layout/process5"/>
    <dgm:cxn modelId="{16AB22A6-8FD2-4AE5-BC08-00AE28BA0555}" type="presOf" srcId="{F4CAE2A1-3D56-434B-AC05-0B6949913C49}" destId="{B72D6AE3-A693-4AF7-A137-69E40AB0D2E1}" srcOrd="0" destOrd="0" presId="urn:microsoft.com/office/officeart/2005/8/layout/process5"/>
    <dgm:cxn modelId="{7D08F0B5-FE8D-46E9-BE78-B29FDA2CFDC3}" srcId="{0666D96A-4881-4E58-8A8D-384EA33367CA}" destId="{5BD9FE1B-DDC0-433D-ACC0-EC1ED389BC84}" srcOrd="2" destOrd="0" parTransId="{86979F1E-E65D-4413-9CC6-08A3677921E1}" sibTransId="{815BE296-16F4-4BE4-A9B1-7D707C7CF844}"/>
    <dgm:cxn modelId="{A0E1BEB6-3AE3-42FD-B271-3730620A2036}" type="presOf" srcId="{815BE296-16F4-4BE4-A9B1-7D707C7CF844}" destId="{4EE23100-BC14-4CE5-8A6C-4426ACEAC0AB}" srcOrd="0" destOrd="0" presId="urn:microsoft.com/office/officeart/2005/8/layout/process5"/>
    <dgm:cxn modelId="{4940A1B9-3ACB-4A96-A8B0-49E1217AA886}" srcId="{0666D96A-4881-4E58-8A8D-384EA33367CA}" destId="{F4CAE2A1-3D56-434B-AC05-0B6949913C49}" srcOrd="1" destOrd="0" parTransId="{45AA6D08-7051-430A-9DD2-22A754A17DED}" sibTransId="{1204EFB8-B0B2-4637-A4B8-4226E390BD98}"/>
    <dgm:cxn modelId="{0CDFB1C0-7AA9-419C-ADFF-18A1A1687E50}" type="presOf" srcId="{0666D96A-4881-4E58-8A8D-384EA33367CA}" destId="{FC2CA394-0BF3-43D6-9176-99E3ACEFCA4C}" srcOrd="0" destOrd="0" presId="urn:microsoft.com/office/officeart/2005/8/layout/process5"/>
    <dgm:cxn modelId="{66BBB8C3-D088-4AAF-BC5E-07EAD5A3B491}" type="presOf" srcId="{86016A13-DF8E-40C8-B579-22B5B67F9218}" destId="{C5DDC468-6D0E-4993-9F8A-B33437F2FF84}" srcOrd="1" destOrd="0" presId="urn:microsoft.com/office/officeart/2005/8/layout/process5"/>
    <dgm:cxn modelId="{BED438DF-3C35-49AF-B6EA-8920BEE50DB6}" type="presOf" srcId="{5BD9FE1B-DDC0-433D-ACC0-EC1ED389BC84}" destId="{0C47D74F-5FCC-4117-91F2-A13F5C05D3F7}" srcOrd="0" destOrd="0" presId="urn:microsoft.com/office/officeart/2005/8/layout/process5"/>
    <dgm:cxn modelId="{C0981091-BC39-4201-998D-8FBF9BAC86DA}" type="presParOf" srcId="{FC2CA394-0BF3-43D6-9176-99E3ACEFCA4C}" destId="{598D7AC2-CFE7-4728-BABE-889354B47627}" srcOrd="0" destOrd="0" presId="urn:microsoft.com/office/officeart/2005/8/layout/process5"/>
    <dgm:cxn modelId="{D061532A-2691-4C69-AEE0-37A7A40342BF}" type="presParOf" srcId="{FC2CA394-0BF3-43D6-9176-99E3ACEFCA4C}" destId="{CAD5C4DF-8BD2-46EC-A5F3-13FD4A39DCB5}" srcOrd="1" destOrd="0" presId="urn:microsoft.com/office/officeart/2005/8/layout/process5"/>
    <dgm:cxn modelId="{8FB6B684-DFD4-45B6-BB01-E4AA84FD89B3}" type="presParOf" srcId="{CAD5C4DF-8BD2-46EC-A5F3-13FD4A39DCB5}" destId="{C5DDC468-6D0E-4993-9F8A-B33437F2FF84}" srcOrd="0" destOrd="0" presId="urn:microsoft.com/office/officeart/2005/8/layout/process5"/>
    <dgm:cxn modelId="{371C09FA-23F2-477E-8503-DC0080679316}" type="presParOf" srcId="{FC2CA394-0BF3-43D6-9176-99E3ACEFCA4C}" destId="{B72D6AE3-A693-4AF7-A137-69E40AB0D2E1}" srcOrd="2" destOrd="0" presId="urn:microsoft.com/office/officeart/2005/8/layout/process5"/>
    <dgm:cxn modelId="{8E06E8A4-57BA-43A3-8DE2-6CB6978D4791}" type="presParOf" srcId="{FC2CA394-0BF3-43D6-9176-99E3ACEFCA4C}" destId="{AAC3C025-0139-4503-82A1-F53FBD9434E4}" srcOrd="3" destOrd="0" presId="urn:microsoft.com/office/officeart/2005/8/layout/process5"/>
    <dgm:cxn modelId="{8E6B6553-70D1-4D7D-AA89-CDCABDDC9056}" type="presParOf" srcId="{AAC3C025-0139-4503-82A1-F53FBD9434E4}" destId="{95DE5899-A7C7-42D5-A075-99AF97264077}" srcOrd="0" destOrd="0" presId="urn:microsoft.com/office/officeart/2005/8/layout/process5"/>
    <dgm:cxn modelId="{95E2AE11-11C1-4F70-9B98-8FE5EEB789D6}" type="presParOf" srcId="{FC2CA394-0BF3-43D6-9176-99E3ACEFCA4C}" destId="{0C47D74F-5FCC-4117-91F2-A13F5C05D3F7}" srcOrd="4" destOrd="0" presId="urn:microsoft.com/office/officeart/2005/8/layout/process5"/>
    <dgm:cxn modelId="{0F59D139-3E0A-476F-B85D-9BCF1CC788B3}" type="presParOf" srcId="{FC2CA394-0BF3-43D6-9176-99E3ACEFCA4C}" destId="{4EE23100-BC14-4CE5-8A6C-4426ACEAC0AB}" srcOrd="5" destOrd="0" presId="urn:microsoft.com/office/officeart/2005/8/layout/process5"/>
    <dgm:cxn modelId="{8FE92A9A-A522-49F9-AF2C-36E9D7B791C6}" type="presParOf" srcId="{4EE23100-BC14-4CE5-8A6C-4426ACEAC0AB}" destId="{7CE3F0D4-E8BA-4F83-8E44-B1D0B6BC3AD0}" srcOrd="0" destOrd="0" presId="urn:microsoft.com/office/officeart/2005/8/layout/process5"/>
    <dgm:cxn modelId="{45346E43-7489-40C1-8710-4E6BF38E454E}" type="presParOf" srcId="{FC2CA394-0BF3-43D6-9176-99E3ACEFCA4C}" destId="{A2401A58-F36A-4B41-A820-7683002BC9C6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E50EDD-D7DC-4B67-815F-3C84EC6F770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C8BD3F4-3B44-4C33-9135-CCE3635C985B}">
      <dgm:prSet/>
      <dgm:spPr/>
      <dgm:t>
        <a:bodyPr/>
        <a:lstStyle/>
        <a:p>
          <a:r>
            <a:rPr lang="en-US"/>
            <a:t>1997: bevétel 35M → 86M USD.</a:t>
          </a:r>
        </a:p>
      </dgm:t>
    </dgm:pt>
    <dgm:pt modelId="{D30B1C7C-0A29-4EBF-AA9C-AEC5BF6EDD28}" type="parTrans" cxnId="{722F6443-D52D-4477-BE3B-0C95613B755D}">
      <dgm:prSet/>
      <dgm:spPr/>
      <dgm:t>
        <a:bodyPr/>
        <a:lstStyle/>
        <a:p>
          <a:endParaRPr lang="en-US"/>
        </a:p>
      </dgm:t>
    </dgm:pt>
    <dgm:pt modelId="{83D30C34-7111-4114-BA9C-8B0487903CA9}" type="sibTrans" cxnId="{722F6443-D52D-4477-BE3B-0C95613B755D}">
      <dgm:prSet/>
      <dgm:spPr/>
      <dgm:t>
        <a:bodyPr/>
        <a:lstStyle/>
        <a:p>
          <a:endParaRPr lang="en-US"/>
        </a:p>
      </dgm:t>
    </dgm:pt>
    <dgm:pt modelId="{5CC116C6-7B36-4E85-986E-BD9249D8443C}">
      <dgm:prSet/>
      <dgm:spPr/>
      <dgm:t>
        <a:bodyPr/>
        <a:lstStyle/>
        <a:p>
          <a:r>
            <a:rPr lang="en-US"/>
            <a:t>1998: 196M USD bevétel, 23M USD nyereség.</a:t>
          </a:r>
        </a:p>
      </dgm:t>
    </dgm:pt>
    <dgm:pt modelId="{38857BF9-9D18-4107-B131-D83E8D0D13A8}" type="parTrans" cxnId="{242576EE-1955-483A-9038-4199A6153AAA}">
      <dgm:prSet/>
      <dgm:spPr/>
      <dgm:t>
        <a:bodyPr/>
        <a:lstStyle/>
        <a:p>
          <a:endParaRPr lang="en-US"/>
        </a:p>
      </dgm:t>
    </dgm:pt>
    <dgm:pt modelId="{C338B82A-470C-4F66-9C9A-C9CC43591061}" type="sibTrans" cxnId="{242576EE-1955-483A-9038-4199A6153AAA}">
      <dgm:prSet/>
      <dgm:spPr/>
      <dgm:t>
        <a:bodyPr/>
        <a:lstStyle/>
        <a:p>
          <a:endParaRPr lang="en-US"/>
        </a:p>
      </dgm:t>
    </dgm:pt>
    <dgm:pt modelId="{25199EC5-EE91-40AE-85E7-F7F632A5C34F}">
      <dgm:prSet/>
      <dgm:spPr/>
      <dgm:t>
        <a:bodyPr/>
        <a:lstStyle/>
        <a:p>
          <a:r>
            <a:rPr lang="en-US"/>
            <a:t>Felvásárlások: Microprose, Avalon Hill.</a:t>
          </a:r>
        </a:p>
      </dgm:t>
    </dgm:pt>
    <dgm:pt modelId="{88D8CF86-7CAC-48F6-ABC2-440FD9E81106}" type="parTrans" cxnId="{11A5773B-A9C7-49D4-AF7B-82F6746E3AFA}">
      <dgm:prSet/>
      <dgm:spPr/>
      <dgm:t>
        <a:bodyPr/>
        <a:lstStyle/>
        <a:p>
          <a:endParaRPr lang="en-US"/>
        </a:p>
      </dgm:t>
    </dgm:pt>
    <dgm:pt modelId="{57EEE050-A2ED-42A1-AA4D-CAC419E39610}" type="sibTrans" cxnId="{11A5773B-A9C7-49D4-AF7B-82F6746E3AFA}">
      <dgm:prSet/>
      <dgm:spPr/>
      <dgm:t>
        <a:bodyPr/>
        <a:lstStyle/>
        <a:p>
          <a:endParaRPr lang="en-US"/>
        </a:p>
      </dgm:t>
    </dgm:pt>
    <dgm:pt modelId="{8E9FE848-3483-430C-BB15-7F63EE805534}">
      <dgm:prSet/>
      <dgm:spPr/>
      <dgm:t>
        <a:bodyPr/>
        <a:lstStyle/>
        <a:p>
          <a:r>
            <a:rPr lang="en-US"/>
            <a:t>Licencjogok: Frogger, Jeopardy, Atari klasszikusok.</a:t>
          </a:r>
        </a:p>
      </dgm:t>
    </dgm:pt>
    <dgm:pt modelId="{39793C45-997B-4877-8DCE-EC4B48B8020D}" type="parTrans" cxnId="{CF176D26-E0EE-4F9B-ACBE-1ADCCFACA1AC}">
      <dgm:prSet/>
      <dgm:spPr/>
      <dgm:t>
        <a:bodyPr/>
        <a:lstStyle/>
        <a:p>
          <a:endParaRPr lang="en-US"/>
        </a:p>
      </dgm:t>
    </dgm:pt>
    <dgm:pt modelId="{2C489B93-3375-4CB5-A4FF-1A8AB522C455}" type="sibTrans" cxnId="{CF176D26-E0EE-4F9B-ACBE-1ADCCFACA1AC}">
      <dgm:prSet/>
      <dgm:spPr/>
      <dgm:t>
        <a:bodyPr/>
        <a:lstStyle/>
        <a:p>
          <a:endParaRPr lang="en-US"/>
        </a:p>
      </dgm:t>
    </dgm:pt>
    <dgm:pt modelId="{AF6D6400-240B-4973-923C-FF91AE167604}" type="pres">
      <dgm:prSet presAssocID="{9EE50EDD-D7DC-4B67-815F-3C84EC6F7702}" presName="root" presStyleCnt="0">
        <dgm:presLayoutVars>
          <dgm:dir/>
          <dgm:resizeHandles val="exact"/>
        </dgm:presLayoutVars>
      </dgm:prSet>
      <dgm:spPr/>
    </dgm:pt>
    <dgm:pt modelId="{A653E06B-8A80-44BB-99E2-8E7790E52BEE}" type="pres">
      <dgm:prSet presAssocID="{2C8BD3F4-3B44-4C33-9135-CCE3635C985B}" presName="compNode" presStyleCnt="0"/>
      <dgm:spPr/>
    </dgm:pt>
    <dgm:pt modelId="{A234CA2D-7C54-4D75-BF8E-487039A9F3F1}" type="pres">
      <dgm:prSet presAssocID="{2C8BD3F4-3B44-4C33-9135-CCE3635C985B}" presName="bgRect" presStyleLbl="bgShp" presStyleIdx="0" presStyleCnt="4"/>
      <dgm:spPr/>
    </dgm:pt>
    <dgm:pt modelId="{CAFCBEF9-F834-4C69-8585-08A09A6965BF}" type="pres">
      <dgm:prSet presAssocID="{2C8BD3F4-3B44-4C33-9135-CCE3635C985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énz"/>
        </a:ext>
      </dgm:extLst>
    </dgm:pt>
    <dgm:pt modelId="{AB569E1D-6C8E-4EA3-ACED-2E3929F46CD1}" type="pres">
      <dgm:prSet presAssocID="{2C8BD3F4-3B44-4C33-9135-CCE3635C985B}" presName="spaceRect" presStyleCnt="0"/>
      <dgm:spPr/>
    </dgm:pt>
    <dgm:pt modelId="{A7CB5878-63DA-4520-B49C-1CA2C1BF3ABE}" type="pres">
      <dgm:prSet presAssocID="{2C8BD3F4-3B44-4C33-9135-CCE3635C985B}" presName="parTx" presStyleLbl="revTx" presStyleIdx="0" presStyleCnt="4">
        <dgm:presLayoutVars>
          <dgm:chMax val="0"/>
          <dgm:chPref val="0"/>
        </dgm:presLayoutVars>
      </dgm:prSet>
      <dgm:spPr/>
    </dgm:pt>
    <dgm:pt modelId="{BEBAF0D6-0349-4AB6-8044-98D116C0322B}" type="pres">
      <dgm:prSet presAssocID="{83D30C34-7111-4114-BA9C-8B0487903CA9}" presName="sibTrans" presStyleCnt="0"/>
      <dgm:spPr/>
    </dgm:pt>
    <dgm:pt modelId="{61369D5E-BD85-47B2-A8F2-CB4B2A9C6FB9}" type="pres">
      <dgm:prSet presAssocID="{5CC116C6-7B36-4E85-986E-BD9249D8443C}" presName="compNode" presStyleCnt="0"/>
      <dgm:spPr/>
    </dgm:pt>
    <dgm:pt modelId="{8AA1A1BE-9FD2-46C7-874E-7707F55C6BC3}" type="pres">
      <dgm:prSet presAssocID="{5CC116C6-7B36-4E85-986E-BD9249D8443C}" presName="bgRect" presStyleLbl="bgShp" presStyleIdx="1" presStyleCnt="4"/>
      <dgm:spPr/>
    </dgm:pt>
    <dgm:pt modelId="{6916CA1D-E26B-49C4-85F1-B8C20026A637}" type="pres">
      <dgm:prSet presAssocID="{5CC116C6-7B36-4E85-986E-BD9249D8443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üan"/>
        </a:ext>
      </dgm:extLst>
    </dgm:pt>
    <dgm:pt modelId="{DEC32700-64EE-4C59-A24C-29725EF11CBB}" type="pres">
      <dgm:prSet presAssocID="{5CC116C6-7B36-4E85-986E-BD9249D8443C}" presName="spaceRect" presStyleCnt="0"/>
      <dgm:spPr/>
    </dgm:pt>
    <dgm:pt modelId="{65ED66C1-C205-49B1-9DA5-FD249F159463}" type="pres">
      <dgm:prSet presAssocID="{5CC116C6-7B36-4E85-986E-BD9249D8443C}" presName="parTx" presStyleLbl="revTx" presStyleIdx="1" presStyleCnt="4">
        <dgm:presLayoutVars>
          <dgm:chMax val="0"/>
          <dgm:chPref val="0"/>
        </dgm:presLayoutVars>
      </dgm:prSet>
      <dgm:spPr/>
    </dgm:pt>
    <dgm:pt modelId="{2BB5442E-EB2B-44ED-99F6-2B94C08F09BE}" type="pres">
      <dgm:prSet presAssocID="{C338B82A-470C-4F66-9C9A-C9CC43591061}" presName="sibTrans" presStyleCnt="0"/>
      <dgm:spPr/>
    </dgm:pt>
    <dgm:pt modelId="{B7D9E2CF-3183-4976-A00D-D210F75D59B6}" type="pres">
      <dgm:prSet presAssocID="{25199EC5-EE91-40AE-85E7-F7F632A5C34F}" presName="compNode" presStyleCnt="0"/>
      <dgm:spPr/>
    </dgm:pt>
    <dgm:pt modelId="{D9854C83-5E2D-43BF-9B35-6F98A3F3B215}" type="pres">
      <dgm:prSet presAssocID="{25199EC5-EE91-40AE-85E7-F7F632A5C34F}" presName="bgRect" presStyleLbl="bgShp" presStyleIdx="2" presStyleCnt="4"/>
      <dgm:spPr/>
    </dgm:pt>
    <dgm:pt modelId="{E68C291A-3FD8-4D78-8E60-4BAFE2FA9E3F}" type="pres">
      <dgm:prSet presAssocID="{25199EC5-EE91-40AE-85E7-F7F632A5C34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ll scene"/>
        </a:ext>
      </dgm:extLst>
    </dgm:pt>
    <dgm:pt modelId="{95FF4791-6052-4390-ADAD-DE4F543C6262}" type="pres">
      <dgm:prSet presAssocID="{25199EC5-EE91-40AE-85E7-F7F632A5C34F}" presName="spaceRect" presStyleCnt="0"/>
      <dgm:spPr/>
    </dgm:pt>
    <dgm:pt modelId="{CF934D52-8B13-418D-BFCB-79FD4DB510BB}" type="pres">
      <dgm:prSet presAssocID="{25199EC5-EE91-40AE-85E7-F7F632A5C34F}" presName="parTx" presStyleLbl="revTx" presStyleIdx="2" presStyleCnt="4">
        <dgm:presLayoutVars>
          <dgm:chMax val="0"/>
          <dgm:chPref val="0"/>
        </dgm:presLayoutVars>
      </dgm:prSet>
      <dgm:spPr/>
    </dgm:pt>
    <dgm:pt modelId="{67622024-A27C-471B-8987-BE9BEDDAAE31}" type="pres">
      <dgm:prSet presAssocID="{57EEE050-A2ED-42A1-AA4D-CAC419E39610}" presName="sibTrans" presStyleCnt="0"/>
      <dgm:spPr/>
    </dgm:pt>
    <dgm:pt modelId="{C0A5E1B7-3530-4A27-BC29-05020E323ED0}" type="pres">
      <dgm:prSet presAssocID="{8E9FE848-3483-430C-BB15-7F63EE805534}" presName="compNode" presStyleCnt="0"/>
      <dgm:spPr/>
    </dgm:pt>
    <dgm:pt modelId="{76121060-2EE2-44FE-9F1B-B6D89C117480}" type="pres">
      <dgm:prSet presAssocID="{8E9FE848-3483-430C-BB15-7F63EE805534}" presName="bgRect" presStyleLbl="bgShp" presStyleIdx="3" presStyleCnt="4"/>
      <dgm:spPr/>
    </dgm:pt>
    <dgm:pt modelId="{F972539F-6CCE-4E82-8965-375537531E17}" type="pres">
      <dgm:prSet presAssocID="{8E9FE848-3483-430C-BB15-7F63EE8055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zor"/>
        </a:ext>
      </dgm:extLst>
    </dgm:pt>
    <dgm:pt modelId="{C73FE4FF-D959-40FC-9B23-E26B626D30F8}" type="pres">
      <dgm:prSet presAssocID="{8E9FE848-3483-430C-BB15-7F63EE805534}" presName="spaceRect" presStyleCnt="0"/>
      <dgm:spPr/>
    </dgm:pt>
    <dgm:pt modelId="{C4DC4118-0078-48C5-80E4-162343EF6C73}" type="pres">
      <dgm:prSet presAssocID="{8E9FE848-3483-430C-BB15-7F63EE80553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3AC9925-AA96-455E-8D35-212583F4AECF}" type="presOf" srcId="{9EE50EDD-D7DC-4B67-815F-3C84EC6F7702}" destId="{AF6D6400-240B-4973-923C-FF91AE167604}" srcOrd="0" destOrd="0" presId="urn:microsoft.com/office/officeart/2018/2/layout/IconVerticalSolidList"/>
    <dgm:cxn modelId="{CF176D26-E0EE-4F9B-ACBE-1ADCCFACA1AC}" srcId="{9EE50EDD-D7DC-4B67-815F-3C84EC6F7702}" destId="{8E9FE848-3483-430C-BB15-7F63EE805534}" srcOrd="3" destOrd="0" parTransId="{39793C45-997B-4877-8DCE-EC4B48B8020D}" sibTransId="{2C489B93-3375-4CB5-A4FF-1A8AB522C455}"/>
    <dgm:cxn modelId="{4CDD0A35-18EF-42F3-8CEE-25EDF272B4E1}" type="presOf" srcId="{2C8BD3F4-3B44-4C33-9135-CCE3635C985B}" destId="{A7CB5878-63DA-4520-B49C-1CA2C1BF3ABE}" srcOrd="0" destOrd="0" presId="urn:microsoft.com/office/officeart/2018/2/layout/IconVerticalSolidList"/>
    <dgm:cxn modelId="{11A5773B-A9C7-49D4-AF7B-82F6746E3AFA}" srcId="{9EE50EDD-D7DC-4B67-815F-3C84EC6F7702}" destId="{25199EC5-EE91-40AE-85E7-F7F632A5C34F}" srcOrd="2" destOrd="0" parTransId="{88D8CF86-7CAC-48F6-ABC2-440FD9E81106}" sibTransId="{57EEE050-A2ED-42A1-AA4D-CAC419E39610}"/>
    <dgm:cxn modelId="{722F6443-D52D-4477-BE3B-0C95613B755D}" srcId="{9EE50EDD-D7DC-4B67-815F-3C84EC6F7702}" destId="{2C8BD3F4-3B44-4C33-9135-CCE3635C985B}" srcOrd="0" destOrd="0" parTransId="{D30B1C7C-0A29-4EBF-AA9C-AEC5BF6EDD28}" sibTransId="{83D30C34-7111-4114-BA9C-8B0487903CA9}"/>
    <dgm:cxn modelId="{90D5F295-E4B6-4EAD-8575-769C4AE22CB8}" type="presOf" srcId="{25199EC5-EE91-40AE-85E7-F7F632A5C34F}" destId="{CF934D52-8B13-418D-BFCB-79FD4DB510BB}" srcOrd="0" destOrd="0" presId="urn:microsoft.com/office/officeart/2018/2/layout/IconVerticalSolidList"/>
    <dgm:cxn modelId="{32200BAD-AD3A-4A58-997D-93031F4405D6}" type="presOf" srcId="{5CC116C6-7B36-4E85-986E-BD9249D8443C}" destId="{65ED66C1-C205-49B1-9DA5-FD249F159463}" srcOrd="0" destOrd="0" presId="urn:microsoft.com/office/officeart/2018/2/layout/IconVerticalSolidList"/>
    <dgm:cxn modelId="{70F3ABED-2A05-47B0-B0BB-6D06533EB322}" type="presOf" srcId="{8E9FE848-3483-430C-BB15-7F63EE805534}" destId="{C4DC4118-0078-48C5-80E4-162343EF6C73}" srcOrd="0" destOrd="0" presId="urn:microsoft.com/office/officeart/2018/2/layout/IconVerticalSolidList"/>
    <dgm:cxn modelId="{242576EE-1955-483A-9038-4199A6153AAA}" srcId="{9EE50EDD-D7DC-4B67-815F-3C84EC6F7702}" destId="{5CC116C6-7B36-4E85-986E-BD9249D8443C}" srcOrd="1" destOrd="0" parTransId="{38857BF9-9D18-4107-B131-D83E8D0D13A8}" sibTransId="{C338B82A-470C-4F66-9C9A-C9CC43591061}"/>
    <dgm:cxn modelId="{4B022636-B203-4D10-8482-94EFD7A27555}" type="presParOf" srcId="{AF6D6400-240B-4973-923C-FF91AE167604}" destId="{A653E06B-8A80-44BB-99E2-8E7790E52BEE}" srcOrd="0" destOrd="0" presId="urn:microsoft.com/office/officeart/2018/2/layout/IconVerticalSolidList"/>
    <dgm:cxn modelId="{BCD56A2E-3050-4E91-A3E9-807E9E070378}" type="presParOf" srcId="{A653E06B-8A80-44BB-99E2-8E7790E52BEE}" destId="{A234CA2D-7C54-4D75-BF8E-487039A9F3F1}" srcOrd="0" destOrd="0" presId="urn:microsoft.com/office/officeart/2018/2/layout/IconVerticalSolidList"/>
    <dgm:cxn modelId="{CA3F7890-BF11-488B-9E9F-991D394DCDB6}" type="presParOf" srcId="{A653E06B-8A80-44BB-99E2-8E7790E52BEE}" destId="{CAFCBEF9-F834-4C69-8585-08A09A6965BF}" srcOrd="1" destOrd="0" presId="urn:microsoft.com/office/officeart/2018/2/layout/IconVerticalSolidList"/>
    <dgm:cxn modelId="{387552D1-DBC6-47AD-86F7-88EA2948A488}" type="presParOf" srcId="{A653E06B-8A80-44BB-99E2-8E7790E52BEE}" destId="{AB569E1D-6C8E-4EA3-ACED-2E3929F46CD1}" srcOrd="2" destOrd="0" presId="urn:microsoft.com/office/officeart/2018/2/layout/IconVerticalSolidList"/>
    <dgm:cxn modelId="{CF4A68F0-D5A8-4FB9-B1C4-46B8EB409F0E}" type="presParOf" srcId="{A653E06B-8A80-44BB-99E2-8E7790E52BEE}" destId="{A7CB5878-63DA-4520-B49C-1CA2C1BF3ABE}" srcOrd="3" destOrd="0" presId="urn:microsoft.com/office/officeart/2018/2/layout/IconVerticalSolidList"/>
    <dgm:cxn modelId="{07B862F0-D270-4AE9-B397-E902801AAF4B}" type="presParOf" srcId="{AF6D6400-240B-4973-923C-FF91AE167604}" destId="{BEBAF0D6-0349-4AB6-8044-98D116C0322B}" srcOrd="1" destOrd="0" presId="urn:microsoft.com/office/officeart/2018/2/layout/IconVerticalSolidList"/>
    <dgm:cxn modelId="{71DA4A97-3E83-4BE3-A9BC-BCBD9DC3AE74}" type="presParOf" srcId="{AF6D6400-240B-4973-923C-FF91AE167604}" destId="{61369D5E-BD85-47B2-A8F2-CB4B2A9C6FB9}" srcOrd="2" destOrd="0" presId="urn:microsoft.com/office/officeart/2018/2/layout/IconVerticalSolidList"/>
    <dgm:cxn modelId="{7C2EDB62-F439-4701-B3D8-8BC24229A8ED}" type="presParOf" srcId="{61369D5E-BD85-47B2-A8F2-CB4B2A9C6FB9}" destId="{8AA1A1BE-9FD2-46C7-874E-7707F55C6BC3}" srcOrd="0" destOrd="0" presId="urn:microsoft.com/office/officeart/2018/2/layout/IconVerticalSolidList"/>
    <dgm:cxn modelId="{137D9F67-0E3D-49BE-BAA2-7A3795B785D1}" type="presParOf" srcId="{61369D5E-BD85-47B2-A8F2-CB4B2A9C6FB9}" destId="{6916CA1D-E26B-49C4-85F1-B8C20026A637}" srcOrd="1" destOrd="0" presId="urn:microsoft.com/office/officeart/2018/2/layout/IconVerticalSolidList"/>
    <dgm:cxn modelId="{50A0BBA2-84B8-4A6B-910B-C44829E6DD91}" type="presParOf" srcId="{61369D5E-BD85-47B2-A8F2-CB4B2A9C6FB9}" destId="{DEC32700-64EE-4C59-A24C-29725EF11CBB}" srcOrd="2" destOrd="0" presId="urn:microsoft.com/office/officeart/2018/2/layout/IconVerticalSolidList"/>
    <dgm:cxn modelId="{E1C38116-8500-4428-AB2F-0FC072B3908C}" type="presParOf" srcId="{61369D5E-BD85-47B2-A8F2-CB4B2A9C6FB9}" destId="{65ED66C1-C205-49B1-9DA5-FD249F159463}" srcOrd="3" destOrd="0" presId="urn:microsoft.com/office/officeart/2018/2/layout/IconVerticalSolidList"/>
    <dgm:cxn modelId="{F19B9CDE-5760-491C-880D-87F2FD7E01AA}" type="presParOf" srcId="{AF6D6400-240B-4973-923C-FF91AE167604}" destId="{2BB5442E-EB2B-44ED-99F6-2B94C08F09BE}" srcOrd="3" destOrd="0" presId="urn:microsoft.com/office/officeart/2018/2/layout/IconVerticalSolidList"/>
    <dgm:cxn modelId="{CAD76181-7387-4276-BFAB-0030A4A997FB}" type="presParOf" srcId="{AF6D6400-240B-4973-923C-FF91AE167604}" destId="{B7D9E2CF-3183-4976-A00D-D210F75D59B6}" srcOrd="4" destOrd="0" presId="urn:microsoft.com/office/officeart/2018/2/layout/IconVerticalSolidList"/>
    <dgm:cxn modelId="{FF69B3B4-56C7-4A86-AF0A-E0F87B6E00CC}" type="presParOf" srcId="{B7D9E2CF-3183-4976-A00D-D210F75D59B6}" destId="{D9854C83-5E2D-43BF-9B35-6F98A3F3B215}" srcOrd="0" destOrd="0" presId="urn:microsoft.com/office/officeart/2018/2/layout/IconVerticalSolidList"/>
    <dgm:cxn modelId="{2FEDF723-903D-46AC-BE5E-B28C6F361E56}" type="presParOf" srcId="{B7D9E2CF-3183-4976-A00D-D210F75D59B6}" destId="{E68C291A-3FD8-4D78-8E60-4BAFE2FA9E3F}" srcOrd="1" destOrd="0" presId="urn:microsoft.com/office/officeart/2018/2/layout/IconVerticalSolidList"/>
    <dgm:cxn modelId="{9C0F6F59-5ACE-4393-A716-A872F26F6186}" type="presParOf" srcId="{B7D9E2CF-3183-4976-A00D-D210F75D59B6}" destId="{95FF4791-6052-4390-ADAD-DE4F543C6262}" srcOrd="2" destOrd="0" presId="urn:microsoft.com/office/officeart/2018/2/layout/IconVerticalSolidList"/>
    <dgm:cxn modelId="{2F1489C9-588E-4CA6-A315-9668A7E0DC12}" type="presParOf" srcId="{B7D9E2CF-3183-4976-A00D-D210F75D59B6}" destId="{CF934D52-8B13-418D-BFCB-79FD4DB510BB}" srcOrd="3" destOrd="0" presId="urn:microsoft.com/office/officeart/2018/2/layout/IconVerticalSolidList"/>
    <dgm:cxn modelId="{989A0FB3-7CA3-4879-9EBB-BE0F70DACADB}" type="presParOf" srcId="{AF6D6400-240B-4973-923C-FF91AE167604}" destId="{67622024-A27C-471B-8987-BE9BEDDAAE31}" srcOrd="5" destOrd="0" presId="urn:microsoft.com/office/officeart/2018/2/layout/IconVerticalSolidList"/>
    <dgm:cxn modelId="{0C873C4D-47FB-49F2-9455-D7CB9F3783B9}" type="presParOf" srcId="{AF6D6400-240B-4973-923C-FF91AE167604}" destId="{C0A5E1B7-3530-4A27-BC29-05020E323ED0}" srcOrd="6" destOrd="0" presId="urn:microsoft.com/office/officeart/2018/2/layout/IconVerticalSolidList"/>
    <dgm:cxn modelId="{58EE262A-B45B-4070-A353-628A1169EF65}" type="presParOf" srcId="{C0A5E1B7-3530-4A27-BC29-05020E323ED0}" destId="{76121060-2EE2-44FE-9F1B-B6D89C117480}" srcOrd="0" destOrd="0" presId="urn:microsoft.com/office/officeart/2018/2/layout/IconVerticalSolidList"/>
    <dgm:cxn modelId="{EFC01DD4-B4BA-40DD-8468-1C88F4D209AB}" type="presParOf" srcId="{C0A5E1B7-3530-4A27-BC29-05020E323ED0}" destId="{F972539F-6CCE-4E82-8965-375537531E17}" srcOrd="1" destOrd="0" presId="urn:microsoft.com/office/officeart/2018/2/layout/IconVerticalSolidList"/>
    <dgm:cxn modelId="{9C2B8B09-4BE7-472C-8BB2-DAD9EE36ECAE}" type="presParOf" srcId="{C0A5E1B7-3530-4A27-BC29-05020E323ED0}" destId="{C73FE4FF-D959-40FC-9B23-E26B626D30F8}" srcOrd="2" destOrd="0" presId="urn:microsoft.com/office/officeart/2018/2/layout/IconVerticalSolidList"/>
    <dgm:cxn modelId="{D3F450DA-793C-424A-B741-DEF2F4324B2F}" type="presParOf" srcId="{C0A5E1B7-3530-4A27-BC29-05020E323ED0}" destId="{C4DC4118-0078-48C5-80E4-162343EF6C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4C49E2-D8D0-4D91-B438-EFDFED4C672C}">
      <dsp:nvSpPr>
        <dsp:cNvPr id="0" name=""/>
        <dsp:cNvSpPr/>
      </dsp:nvSpPr>
      <dsp:spPr>
        <a:xfrm>
          <a:off x="0" y="281186"/>
          <a:ext cx="4211240" cy="421124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BAB24-3F18-47B5-8BFF-55D72F38731D}">
      <dsp:nvSpPr>
        <dsp:cNvPr id="0" name=""/>
        <dsp:cNvSpPr/>
      </dsp:nvSpPr>
      <dsp:spPr>
        <a:xfrm>
          <a:off x="400067" y="681254"/>
          <a:ext cx="1642383" cy="164238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1980-as évek: Milton Bradley – VecTrex videojáték-rendszer (kudarc).</a:t>
          </a:r>
        </a:p>
      </dsp:txBody>
      <dsp:txXfrm>
        <a:off x="480242" y="761429"/>
        <a:ext cx="1482033" cy="1482033"/>
      </dsp:txXfrm>
    </dsp:sp>
    <dsp:sp modelId="{E6053EAA-6C71-44A8-97C5-568691CC049D}">
      <dsp:nvSpPr>
        <dsp:cNvPr id="0" name=""/>
        <dsp:cNvSpPr/>
      </dsp:nvSpPr>
      <dsp:spPr>
        <a:xfrm>
          <a:off x="2168788" y="681254"/>
          <a:ext cx="1642383" cy="164238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Külső fejlesztések Nintendóra, majd CD-ROM játékok.</a:t>
          </a:r>
        </a:p>
      </dsp:txBody>
      <dsp:txXfrm>
        <a:off x="2248963" y="761429"/>
        <a:ext cx="1482033" cy="1482033"/>
      </dsp:txXfrm>
    </dsp:sp>
    <dsp:sp modelId="{DAB6BB49-3156-47EE-B691-E98B5963A5C9}">
      <dsp:nvSpPr>
        <dsp:cNvPr id="0" name=""/>
        <dsp:cNvSpPr/>
      </dsp:nvSpPr>
      <dsp:spPr>
        <a:xfrm>
          <a:off x="400067" y="2449975"/>
          <a:ext cx="1642383" cy="164238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Virtuális valóság projekt 1995-ben megbukott.</a:t>
          </a:r>
        </a:p>
      </dsp:txBody>
      <dsp:txXfrm>
        <a:off x="480242" y="2530150"/>
        <a:ext cx="1482033" cy="1482033"/>
      </dsp:txXfrm>
    </dsp:sp>
    <dsp:sp modelId="{472C625B-6B4E-4A15-B495-85F084EDF30D}">
      <dsp:nvSpPr>
        <dsp:cNvPr id="0" name=""/>
        <dsp:cNvSpPr/>
      </dsp:nvSpPr>
      <dsp:spPr>
        <a:xfrm>
          <a:off x="2168788" y="2449975"/>
          <a:ext cx="1642383" cy="164238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Ez vezetett a Hasbro Interactive megalapításához.</a:t>
          </a:r>
        </a:p>
      </dsp:txBody>
      <dsp:txXfrm>
        <a:off x="2248963" y="2530150"/>
        <a:ext cx="1482033" cy="14820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D7AC2-CFE7-4728-BABE-889354B47627}">
      <dsp:nvSpPr>
        <dsp:cNvPr id="0" name=""/>
        <dsp:cNvSpPr/>
      </dsp:nvSpPr>
      <dsp:spPr>
        <a:xfrm>
          <a:off x="493177" y="1049"/>
          <a:ext cx="2527878" cy="15167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1995-ben Alan Hassenfeld </a:t>
          </a:r>
          <a:r>
            <a:rPr lang="en-US" sz="1800" kern="1200" dirty="0" err="1"/>
            <a:t>felkérte</a:t>
          </a:r>
          <a:r>
            <a:rPr lang="en-US" sz="1800" kern="1200" dirty="0"/>
            <a:t> Tom Dusenberry-t </a:t>
          </a:r>
          <a:r>
            <a:rPr lang="en-US" sz="1800" kern="1200" dirty="0" err="1"/>
            <a:t>az</a:t>
          </a:r>
          <a:r>
            <a:rPr lang="en-US" sz="1800" kern="1200" dirty="0"/>
            <a:t> </a:t>
          </a:r>
          <a:r>
            <a:rPr lang="en-US" sz="1800" kern="1200" dirty="0" err="1"/>
            <a:t>új</a:t>
          </a:r>
          <a:r>
            <a:rPr lang="en-US" sz="1800" kern="1200" dirty="0"/>
            <a:t> </a:t>
          </a:r>
          <a:r>
            <a:rPr lang="en-US" sz="1800" kern="1200" dirty="0" err="1"/>
            <a:t>divízió</a:t>
          </a:r>
          <a:r>
            <a:rPr lang="en-US" sz="1800" kern="1200" dirty="0"/>
            <a:t> </a:t>
          </a:r>
          <a:r>
            <a:rPr lang="en-US" sz="1800" kern="1200" dirty="0" err="1"/>
            <a:t>vezetésére</a:t>
          </a:r>
          <a:r>
            <a:rPr lang="en-US" sz="1800" kern="1200" dirty="0"/>
            <a:t>.</a:t>
          </a:r>
        </a:p>
      </dsp:txBody>
      <dsp:txXfrm>
        <a:off x="537600" y="45472"/>
        <a:ext cx="2439032" cy="1427881"/>
      </dsp:txXfrm>
    </dsp:sp>
    <dsp:sp modelId="{CAD5C4DF-8BD2-46EC-A5F3-13FD4A39DCB5}">
      <dsp:nvSpPr>
        <dsp:cNvPr id="0" name=""/>
        <dsp:cNvSpPr/>
      </dsp:nvSpPr>
      <dsp:spPr>
        <a:xfrm>
          <a:off x="3243509" y="445956"/>
          <a:ext cx="535910" cy="6269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243509" y="571339"/>
        <a:ext cx="375137" cy="376147"/>
      </dsp:txXfrm>
    </dsp:sp>
    <dsp:sp modelId="{B72D6AE3-A693-4AF7-A137-69E40AB0D2E1}">
      <dsp:nvSpPr>
        <dsp:cNvPr id="0" name=""/>
        <dsp:cNvSpPr/>
      </dsp:nvSpPr>
      <dsp:spPr>
        <a:xfrm>
          <a:off x="4032207" y="1049"/>
          <a:ext cx="2527878" cy="1516727"/>
        </a:xfrm>
        <a:prstGeom prst="roundRect">
          <a:avLst>
            <a:gd name="adj" fmla="val 10000"/>
          </a:avLst>
        </a:prstGeom>
        <a:solidFill>
          <a:schemeClr val="accent5">
            <a:hueOff val="2436877"/>
            <a:satOff val="265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Önálló</a:t>
          </a:r>
          <a:r>
            <a:rPr lang="en-US" sz="1800" kern="1200" dirty="0"/>
            <a:t> </a:t>
          </a:r>
          <a:r>
            <a:rPr lang="en-US" sz="1800" kern="1200" dirty="0" err="1"/>
            <a:t>egységként</a:t>
          </a:r>
          <a:r>
            <a:rPr lang="en-US" sz="1800" kern="1200" dirty="0"/>
            <a:t> </a:t>
          </a:r>
          <a:r>
            <a:rPr lang="en-US" sz="1800" kern="1200" dirty="0" err="1"/>
            <a:t>működött</a:t>
          </a:r>
          <a:r>
            <a:rPr lang="en-US" sz="1800" kern="1200" dirty="0"/>
            <a:t> </a:t>
          </a:r>
          <a:r>
            <a:rPr lang="en-US" sz="1800" kern="1200" dirty="0" err="1"/>
            <a:t>Beverlyben</a:t>
          </a:r>
          <a:r>
            <a:rPr lang="en-US" sz="1800" kern="1200" dirty="0"/>
            <a:t> (Parker Brothers </a:t>
          </a:r>
          <a:r>
            <a:rPr lang="en-US" sz="1800" kern="1200" dirty="0" err="1"/>
            <a:t>központ</a:t>
          </a:r>
          <a:r>
            <a:rPr lang="en-US" sz="1800" kern="1200" dirty="0"/>
            <a:t>).</a:t>
          </a:r>
        </a:p>
      </dsp:txBody>
      <dsp:txXfrm>
        <a:off x="4076630" y="45472"/>
        <a:ext cx="2439032" cy="1427881"/>
      </dsp:txXfrm>
    </dsp:sp>
    <dsp:sp modelId="{AAC3C025-0139-4503-82A1-F53FBD9434E4}">
      <dsp:nvSpPr>
        <dsp:cNvPr id="0" name=""/>
        <dsp:cNvSpPr/>
      </dsp:nvSpPr>
      <dsp:spPr>
        <a:xfrm rot="5400000">
          <a:off x="5028192" y="1694728"/>
          <a:ext cx="535910" cy="6269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3655316"/>
            <a:satOff val="397"/>
            <a:lumOff val="-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5108074" y="1740230"/>
        <a:ext cx="376147" cy="375137"/>
      </dsp:txXfrm>
    </dsp:sp>
    <dsp:sp modelId="{0C47D74F-5FCC-4117-91F2-A13F5C05D3F7}">
      <dsp:nvSpPr>
        <dsp:cNvPr id="0" name=""/>
        <dsp:cNvSpPr/>
      </dsp:nvSpPr>
      <dsp:spPr>
        <a:xfrm>
          <a:off x="4032207" y="2528928"/>
          <a:ext cx="2527878" cy="1516727"/>
        </a:xfrm>
        <a:prstGeom prst="roundRect">
          <a:avLst>
            <a:gd name="adj" fmla="val 10000"/>
          </a:avLst>
        </a:prstGeom>
        <a:solidFill>
          <a:schemeClr val="accent5">
            <a:hueOff val="4873755"/>
            <a:satOff val="530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Digitális változatok: Monopoly, Scrabble, Candy Land, Battleship.</a:t>
          </a:r>
        </a:p>
      </dsp:txBody>
      <dsp:txXfrm>
        <a:off x="4076630" y="2573351"/>
        <a:ext cx="2439032" cy="1427881"/>
      </dsp:txXfrm>
    </dsp:sp>
    <dsp:sp modelId="{4EE23100-BC14-4CE5-8A6C-4426ACEAC0AB}">
      <dsp:nvSpPr>
        <dsp:cNvPr id="0" name=""/>
        <dsp:cNvSpPr/>
      </dsp:nvSpPr>
      <dsp:spPr>
        <a:xfrm rot="10800000">
          <a:off x="3273844" y="2973835"/>
          <a:ext cx="535910" cy="6269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3434617" y="3099218"/>
        <a:ext cx="375137" cy="376147"/>
      </dsp:txXfrm>
    </dsp:sp>
    <dsp:sp modelId="{A2401A58-F36A-4B41-A820-7683002BC9C6}">
      <dsp:nvSpPr>
        <dsp:cNvPr id="0" name=""/>
        <dsp:cNvSpPr/>
      </dsp:nvSpPr>
      <dsp:spPr>
        <a:xfrm>
          <a:off x="493177" y="2528928"/>
          <a:ext cx="2527878" cy="1516727"/>
        </a:xfrm>
        <a:prstGeom prst="roundRect">
          <a:avLst>
            <a:gd name="adj" fmla="val 10000"/>
          </a:avLst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Cél: a márkák digitális kiterjesztése.</a:t>
          </a:r>
        </a:p>
      </dsp:txBody>
      <dsp:txXfrm>
        <a:off x="537600" y="2573351"/>
        <a:ext cx="2439032" cy="14278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34CA2D-7C54-4D75-BF8E-487039A9F3F1}">
      <dsp:nvSpPr>
        <dsp:cNvPr id="0" name=""/>
        <dsp:cNvSpPr/>
      </dsp:nvSpPr>
      <dsp:spPr>
        <a:xfrm>
          <a:off x="0" y="1981"/>
          <a:ext cx="4211240" cy="10041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FCBEF9-F834-4C69-8585-08A09A6965BF}">
      <dsp:nvSpPr>
        <dsp:cNvPr id="0" name=""/>
        <dsp:cNvSpPr/>
      </dsp:nvSpPr>
      <dsp:spPr>
        <a:xfrm>
          <a:off x="303751" y="227912"/>
          <a:ext cx="552275" cy="5522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CB5878-63DA-4520-B49C-1CA2C1BF3ABE}">
      <dsp:nvSpPr>
        <dsp:cNvPr id="0" name=""/>
        <dsp:cNvSpPr/>
      </dsp:nvSpPr>
      <dsp:spPr>
        <a:xfrm>
          <a:off x="1159778" y="1981"/>
          <a:ext cx="3051461" cy="1004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1" tIns="106271" rIns="106271" bIns="10627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1997: bevétel 35M → 86M USD.</a:t>
          </a:r>
        </a:p>
      </dsp:txBody>
      <dsp:txXfrm>
        <a:off x="1159778" y="1981"/>
        <a:ext cx="3051461" cy="1004136"/>
      </dsp:txXfrm>
    </dsp:sp>
    <dsp:sp modelId="{8AA1A1BE-9FD2-46C7-874E-7707F55C6BC3}">
      <dsp:nvSpPr>
        <dsp:cNvPr id="0" name=""/>
        <dsp:cNvSpPr/>
      </dsp:nvSpPr>
      <dsp:spPr>
        <a:xfrm>
          <a:off x="0" y="1257152"/>
          <a:ext cx="4211240" cy="10041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16CA1D-E26B-49C4-85F1-B8C20026A637}">
      <dsp:nvSpPr>
        <dsp:cNvPr id="0" name=""/>
        <dsp:cNvSpPr/>
      </dsp:nvSpPr>
      <dsp:spPr>
        <a:xfrm>
          <a:off x="303751" y="1483083"/>
          <a:ext cx="552275" cy="5522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D66C1-C205-49B1-9DA5-FD249F159463}">
      <dsp:nvSpPr>
        <dsp:cNvPr id="0" name=""/>
        <dsp:cNvSpPr/>
      </dsp:nvSpPr>
      <dsp:spPr>
        <a:xfrm>
          <a:off x="1159778" y="1257152"/>
          <a:ext cx="3051461" cy="1004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1" tIns="106271" rIns="106271" bIns="10627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1998: 196M USD bevétel, 23M USD nyereség.</a:t>
          </a:r>
        </a:p>
      </dsp:txBody>
      <dsp:txXfrm>
        <a:off x="1159778" y="1257152"/>
        <a:ext cx="3051461" cy="1004136"/>
      </dsp:txXfrm>
    </dsp:sp>
    <dsp:sp modelId="{D9854C83-5E2D-43BF-9B35-6F98A3F3B215}">
      <dsp:nvSpPr>
        <dsp:cNvPr id="0" name=""/>
        <dsp:cNvSpPr/>
      </dsp:nvSpPr>
      <dsp:spPr>
        <a:xfrm>
          <a:off x="0" y="2512323"/>
          <a:ext cx="4211240" cy="10041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C291A-3FD8-4D78-8E60-4BAFE2FA9E3F}">
      <dsp:nvSpPr>
        <dsp:cNvPr id="0" name=""/>
        <dsp:cNvSpPr/>
      </dsp:nvSpPr>
      <dsp:spPr>
        <a:xfrm>
          <a:off x="303751" y="2738254"/>
          <a:ext cx="552275" cy="5522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34D52-8B13-418D-BFCB-79FD4DB510BB}">
      <dsp:nvSpPr>
        <dsp:cNvPr id="0" name=""/>
        <dsp:cNvSpPr/>
      </dsp:nvSpPr>
      <dsp:spPr>
        <a:xfrm>
          <a:off x="1159778" y="2512323"/>
          <a:ext cx="3051461" cy="1004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1" tIns="106271" rIns="106271" bIns="10627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Felvásárlások: Microprose, Avalon Hill.</a:t>
          </a:r>
        </a:p>
      </dsp:txBody>
      <dsp:txXfrm>
        <a:off x="1159778" y="2512323"/>
        <a:ext cx="3051461" cy="1004136"/>
      </dsp:txXfrm>
    </dsp:sp>
    <dsp:sp modelId="{76121060-2EE2-44FE-9F1B-B6D89C117480}">
      <dsp:nvSpPr>
        <dsp:cNvPr id="0" name=""/>
        <dsp:cNvSpPr/>
      </dsp:nvSpPr>
      <dsp:spPr>
        <a:xfrm>
          <a:off x="0" y="3767494"/>
          <a:ext cx="4211240" cy="10041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2539F-6CCE-4E82-8965-375537531E17}">
      <dsp:nvSpPr>
        <dsp:cNvPr id="0" name=""/>
        <dsp:cNvSpPr/>
      </dsp:nvSpPr>
      <dsp:spPr>
        <a:xfrm>
          <a:off x="303751" y="3993425"/>
          <a:ext cx="552275" cy="5522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C4118-0078-48C5-80E4-162343EF6C73}">
      <dsp:nvSpPr>
        <dsp:cNvPr id="0" name=""/>
        <dsp:cNvSpPr/>
      </dsp:nvSpPr>
      <dsp:spPr>
        <a:xfrm>
          <a:off x="1159778" y="3767494"/>
          <a:ext cx="3051461" cy="1004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1" tIns="106271" rIns="106271" bIns="10627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Licencjogok: Frogger, Jeopardy, Atari klasszikusok.</a:t>
          </a:r>
        </a:p>
      </dsp:txBody>
      <dsp:txXfrm>
        <a:off x="1159778" y="3767494"/>
        <a:ext cx="3051461" cy="10041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8C093-5EE2-4025-8ED1-E3E70A7A2EE3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AD42E-157A-4510-8A6A-8BFF5E664D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66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A Hasbro 2024-es pénzügyi eredményei jelentős átalakulást tükröznek. </a:t>
            </a:r>
          </a:p>
          <a:p>
            <a:r>
              <a:t>A teljes éves árbevétel 4,1 milliárd USD volt, ami 17%-os csökkenés az előző évhez képest. </a:t>
            </a:r>
          </a:p>
          <a:p>
            <a:r>
              <a:t>Ez főként az ellátási láncok helyreállításával, a kereslet visszaesésével és a stratégiai átszervezéssel függ össze. </a:t>
            </a:r>
          </a:p>
          <a:p>
            <a:endParaRPr/>
          </a:p>
          <a:p>
            <a:r>
              <a:t>A COVID–19 járvány idején a vállalat egyszerre tapasztalt keresleti hullámokat és gyártási fennakadásokat. </a:t>
            </a:r>
          </a:p>
          <a:p>
            <a:r>
              <a:t>A pandémia után a vásárlói szokások megváltoztak – a digitális és gyűjtögetős játékok iránti kereslet tartósan megnőtt.</a:t>
            </a:r>
          </a:p>
          <a:p>
            <a:endParaRPr/>
          </a:p>
          <a:p>
            <a:r>
              <a:t>Az orosz–ukrán háború szintén hatással volt a működésre: növekvő alapanyag- és szállítási költségek, </a:t>
            </a:r>
          </a:p>
          <a:p>
            <a:r>
              <a:t>valamint bizonyos piacok ideiglenes visszaesése jellemezte a 2022–2023-as időszakot.</a:t>
            </a:r>
          </a:p>
          <a:p>
            <a:endParaRPr/>
          </a:p>
          <a:p>
            <a:r>
              <a:t>Ennek ellenére a Wizards of the Coast &amp; Digital Gaming szegmens 4%-os növekedést ért el, </a:t>
            </a:r>
          </a:p>
          <a:p>
            <a:r>
              <a:t>köszönhetően a Magic: The Gathering és a Dungeons &amp; Dragons franchise-ok sikerének. </a:t>
            </a:r>
          </a:p>
          <a:p>
            <a:endParaRPr/>
          </a:p>
          <a:p>
            <a:r>
              <a:t>Az üzemi eredmény 690M USD volt (marzs: 16,7%). </a:t>
            </a:r>
          </a:p>
          <a:p>
            <a:r>
              <a:t>A költségmegtakarítás elérte a 370M USD-t, amiből 227M USD nettó megtakarítás valósult meg.</a:t>
            </a:r>
          </a:p>
          <a:p>
            <a:r>
              <a:t>A Hasbro világszerte kb. 5500 embert foglalkoztat, és a fókuszt most a fenntartható, digitális jövőre helyezi.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8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25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9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3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3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7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1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2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6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90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63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5897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640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47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88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86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70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92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3943" y="1325880"/>
            <a:ext cx="2514282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  <a:defRPr sz="4000" b="1">
                <a:solidFill>
                  <a:srgbClr val="003366"/>
                </a:solidFill>
              </a:defRPr>
            </a:pPr>
            <a:r>
              <a:rPr lang="en-US" sz="33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Hasbro &amp; Hasbro Interactive</a:t>
            </a:r>
          </a:p>
        </p:txBody>
      </p:sp>
      <p:sp>
        <p:nvSpPr>
          <p:cNvPr id="26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9776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857465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7" name="Tartalom helye 6" descr="A képen szöveg, labda, képernyőkép, Grafikus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BACE97D-FC1F-D272-A3C0-C654E89E24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838298" y="647698"/>
            <a:ext cx="3992180" cy="5562139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lang="hu-HU" sz="4000">
                <a:solidFill>
                  <a:srgbClr val="EBEBEB"/>
                </a:solidFill>
              </a:rPr>
              <a:t>A Hasbro rövid története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38400"/>
            <a:ext cx="4641142" cy="3785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hu-HU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hu-HU">
                <a:solidFill>
                  <a:srgbClr val="FFFFFF"/>
                </a:solidFill>
              </a:rPr>
              <a:t>1923-ban alapította Henry Hassenfeld (Rhode Island).</a:t>
            </a:r>
          </a:p>
          <a:p>
            <a:pPr>
              <a:lnSpc>
                <a:spcPct val="90000"/>
              </a:lnSpc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hu-HU">
                <a:solidFill>
                  <a:srgbClr val="FFFFFF"/>
                </a:solidFill>
              </a:rPr>
              <a:t>1951: Mr. Potato Head – első nagy siker.</a:t>
            </a:r>
          </a:p>
          <a:p>
            <a:pPr>
              <a:lnSpc>
                <a:spcPct val="90000"/>
              </a:lnSpc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hu-HU">
                <a:solidFill>
                  <a:srgbClr val="FFFFFF"/>
                </a:solidFill>
              </a:rPr>
              <a:t>1960-as évek: G.I. Joe megjelenése.</a:t>
            </a:r>
          </a:p>
          <a:p>
            <a:pPr>
              <a:lnSpc>
                <a:spcPct val="90000"/>
              </a:lnSpc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hu-HU">
                <a:solidFill>
                  <a:srgbClr val="FFFFFF"/>
                </a:solidFill>
              </a:rPr>
              <a:t>1989: Parker Brothers felvásárlása.</a:t>
            </a:r>
          </a:p>
          <a:p>
            <a:pPr>
              <a:lnSpc>
                <a:spcPct val="90000"/>
              </a:lnSpc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hu-HU">
                <a:solidFill>
                  <a:srgbClr val="FFFFFF"/>
                </a:solidFill>
              </a:rPr>
              <a:t>Ikonikus márkák: Monopoly, Nerf, Play-Doh, Scrabble.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 descr="A képen kültéri, ég, felhő, ablak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9FF08A3-1E6C-148A-A99F-307FF20A9B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75" r="33616"/>
          <a:stretch>
            <a:fillRect/>
          </a:stretch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670" y="85642"/>
            <a:ext cx="2629122" cy="2449328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lang="hu-HU" sz="2500" dirty="0">
                <a:solidFill>
                  <a:srgbClr val="F2F2F2"/>
                </a:solidFill>
              </a:rPr>
              <a:t>Korai interaktív próbálkozások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1203D5-8F49-253B-CB5B-D432086A5A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2272528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Kép 3" descr="A képen játék, rajzfilm, szobrocska, csecsemőjátékok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EE095B1-21CA-3B9E-CE37-7B5FB3343D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06" y="2620612"/>
            <a:ext cx="2713826" cy="30598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lang="hu-HU" sz="4000" dirty="0">
                <a:solidFill>
                  <a:schemeClr val="tx1"/>
                </a:solidFill>
              </a:rPr>
              <a:t>A </a:t>
            </a:r>
            <a:r>
              <a:rPr lang="hu-HU" sz="4000" dirty="0" err="1">
                <a:solidFill>
                  <a:schemeClr val="tx1"/>
                </a:solidFill>
              </a:rPr>
              <a:t>Hasbro</a:t>
            </a:r>
            <a:r>
              <a:rPr lang="hu-HU" sz="4000" dirty="0">
                <a:solidFill>
                  <a:schemeClr val="tx1"/>
                </a:solidFill>
              </a:rPr>
              <a:t> </a:t>
            </a:r>
            <a:r>
              <a:rPr lang="hu-HU" sz="4000" dirty="0" err="1">
                <a:solidFill>
                  <a:schemeClr val="tx1"/>
                </a:solidFill>
              </a:rPr>
              <a:t>Interactive</a:t>
            </a:r>
            <a:r>
              <a:rPr lang="hu-HU" sz="4000" dirty="0">
                <a:solidFill>
                  <a:schemeClr val="tx1"/>
                </a:solidFill>
              </a:rPr>
              <a:t> létrehozása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4CCCC3-8B5F-AECA-6B8C-20EB417A58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4955801"/>
              </p:ext>
            </p:extLst>
          </p:nvPr>
        </p:nvGraphicFramePr>
        <p:xfrm>
          <a:off x="-203481" y="2011025"/>
          <a:ext cx="7053264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Kép 3" descr="A képen személy, Emberi arc, ruházat, emb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5C7D82D-D213-070E-FB1B-4EC6CEFF8F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9783" y="2028578"/>
            <a:ext cx="2101946" cy="2800844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BCB610E4-F30A-6014-E12E-DF017241C440}"/>
              </a:ext>
            </a:extLst>
          </p:cNvPr>
          <p:cNvSpPr txBox="1"/>
          <p:nvPr/>
        </p:nvSpPr>
        <p:spPr>
          <a:xfrm>
            <a:off x="6925902" y="4894202"/>
            <a:ext cx="2101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Alan </a:t>
            </a:r>
            <a:r>
              <a:rPr lang="hu-HU" dirty="0" err="1"/>
              <a:t>Hassenfeld</a:t>
            </a:r>
            <a:endParaRPr lang="hu-HU" dirty="0"/>
          </a:p>
          <a:p>
            <a:pPr algn="ctr"/>
            <a:r>
              <a:rPr lang="hu-HU" sz="1400" dirty="0"/>
              <a:t>(1948-2025)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lang="hu-HU" sz="3400">
                <a:solidFill>
                  <a:srgbClr val="F2F2F2"/>
                </a:solidFill>
              </a:rPr>
              <a:t>Gyors növekedés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2169D7-663F-0FBC-55DF-4414C37CBC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4918831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tx1">
                    <a:lumMod val="95000"/>
                  </a:schemeClr>
                </a:solidFill>
              </a:rPr>
              <a:t>Kihívások</a:t>
            </a:r>
            <a:r>
              <a:rPr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</a:schemeClr>
                </a:solidFill>
              </a:rPr>
              <a:t>és</a:t>
            </a:r>
            <a:r>
              <a:rPr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</a:schemeClr>
                </a:solidFill>
              </a:rPr>
              <a:t>problémák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Túl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gyors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növekedés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magas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kockázatok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Költségkeretek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túllépése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fejlesztések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csúszása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1999: 237M USD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bevétel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, de 74M USD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veszteség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Dotcom-lufi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és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piaci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árverseny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fokozta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a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problémákat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dirty="0">
                <a:solidFill>
                  <a:schemeClr val="tx1">
                    <a:lumMod val="95000"/>
                  </a:schemeClr>
                </a:solidFill>
              </a:rPr>
              <a:t>Games.com </a:t>
            </a:r>
            <a:r>
              <a:rPr dirty="0" err="1">
                <a:solidFill>
                  <a:schemeClr val="tx1">
                    <a:lumMod val="95000"/>
                  </a:schemeClr>
                </a:solidFill>
              </a:rPr>
              <a:t>és</a:t>
            </a:r>
            <a:r>
              <a:rPr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</a:schemeClr>
                </a:solidFill>
              </a:rPr>
              <a:t>az</a:t>
            </a:r>
            <a:r>
              <a:rPr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</a:schemeClr>
                </a:solidFill>
              </a:rPr>
              <a:t>eladás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374740" cy="4195481"/>
          </a:xfrm>
        </p:spPr>
        <p:txBody>
          <a:bodyPr>
            <a:normAutofit/>
          </a:bodyPr>
          <a:lstStyle/>
          <a:p>
            <a:endParaRPr sz="2400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1999: games.com – online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játékplatform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fejlesztése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100M USD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befektetés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fejlesztési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nehézségek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2000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végén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eladás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az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Infogames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-nek 100M USD-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ért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Hasbro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megtartotta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a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márkajogokat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licencelésre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tx1">
                    <a:lumMod val="95000"/>
                  </a:schemeClr>
                </a:solidFill>
              </a:rPr>
              <a:t>Tanulságok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2052925"/>
            <a:ext cx="7691611" cy="4195481"/>
          </a:xfrm>
        </p:spPr>
        <p:txBody>
          <a:bodyPr>
            <a:normAutofit/>
          </a:bodyPr>
          <a:lstStyle/>
          <a:p>
            <a:endParaRPr sz="2400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Túl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gyors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növekedés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és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túlzott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optimizmus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Hiányzott a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hosszú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távú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pénzügyi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kontroll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Fontos a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fő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kompetenciákhoz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való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ragaszkodás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A Hasbro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később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visszatért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az</a:t>
            </a:r>
            <a:r>
              <a:rPr lang="hu-HU"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alaptevékenységeire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tx1">
                    <a:lumMod val="95000"/>
                  </a:schemeClr>
                </a:solidFill>
              </a:rPr>
              <a:t>Aktuális</a:t>
            </a:r>
            <a:r>
              <a:rPr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</a:schemeClr>
                </a:solidFill>
              </a:rPr>
              <a:t>adatok</a:t>
            </a:r>
            <a:r>
              <a:rPr dirty="0">
                <a:solidFill>
                  <a:schemeClr val="tx1">
                    <a:lumMod val="95000"/>
                  </a:schemeClr>
                </a:solidFill>
              </a:rPr>
              <a:t>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139350" cy="4195481"/>
          </a:xfrm>
        </p:spPr>
        <p:txBody>
          <a:bodyPr>
            <a:normAutofit fontScale="92500" lnSpcReduction="10000"/>
          </a:bodyPr>
          <a:lstStyle/>
          <a:p>
            <a:endParaRPr sz="2400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2024-es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bevétel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: 4,1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milliárd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USD (–17%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az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előző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évhez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képest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).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Wizards of the Coast &amp; Digital Gaming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szegmens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: +4%.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Üzemi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eredmény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: 690M USD (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marzs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~16,7%).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Költségmegtakarítás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: 370M USD,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ebből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227M USD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nettó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COVID–19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és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a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háborús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helyzet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tartós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hatásai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a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költségekre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és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piacokra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tx1">
                    <a:lumMod val="95000"/>
                  </a:schemeClr>
                </a:solidFill>
              </a:rPr>
              <a:t>Összegzés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365686" cy="4195481"/>
          </a:xfrm>
        </p:spPr>
        <p:txBody>
          <a:bodyPr>
            <a:normAutofit/>
          </a:bodyPr>
          <a:lstStyle/>
          <a:p>
            <a:endParaRPr sz="2400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A Hasbro Interactive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tanulsága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: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innováció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≠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kontroll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nélküli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növekedés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Sikeres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indulás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, de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túlzott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ambíciók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vezettek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a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bukáshoz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A Hasbro ma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tudatosabb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fenntarthatóbb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stratégiát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2400" dirty="0" err="1">
                <a:solidFill>
                  <a:schemeClr val="tx1">
                    <a:lumMod val="95000"/>
                  </a:schemeClr>
                </a:solidFill>
              </a:rPr>
              <a:t>követ</a:t>
            </a:r>
            <a:r>
              <a:rPr sz="24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9143771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3753695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9144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128" y="623571"/>
            <a:ext cx="7695743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457200">
              <a:defRPr sz="4000" b="1">
                <a:solidFill>
                  <a:srgbClr val="003366"/>
                </a:solidFill>
              </a:defRPr>
            </a:pPr>
            <a:r>
              <a:rPr lang="en-US" sz="7000" b="0" i="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Köszönöm</a:t>
            </a:r>
            <a:r>
              <a:rPr lang="en-US" sz="70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7000" b="0" i="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figyelmet</a:t>
            </a:r>
            <a:r>
              <a:rPr lang="hu-HU" sz="70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!</a:t>
            </a:r>
            <a:endParaRPr lang="en-US" sz="70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88</TotalTime>
  <Words>558</Words>
  <Application>Microsoft Office PowerPoint</Application>
  <PresentationFormat>Diavetítés a képernyőre (4:3 oldalarány)</PresentationFormat>
  <Paragraphs>73</Paragraphs>
  <Slides>11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Aptos</vt:lpstr>
      <vt:lpstr>Century Gothic</vt:lpstr>
      <vt:lpstr>Wingdings 3</vt:lpstr>
      <vt:lpstr>Ion</vt:lpstr>
      <vt:lpstr>Hasbro &amp; Hasbro Interactive</vt:lpstr>
      <vt:lpstr>A Hasbro rövid története</vt:lpstr>
      <vt:lpstr>Korai interaktív próbálkozások</vt:lpstr>
      <vt:lpstr>A Hasbro Interactive létrehozása</vt:lpstr>
      <vt:lpstr>Gyors növekedés</vt:lpstr>
      <vt:lpstr>Kihívások és problémák</vt:lpstr>
      <vt:lpstr>Games.com és az eladás</vt:lpstr>
      <vt:lpstr>Tanulságok</vt:lpstr>
      <vt:lpstr>Aktuális adatok (2025)</vt:lpstr>
      <vt:lpstr>Összegzés</vt:lpstr>
      <vt:lpstr>Köszönöm a figyelmet!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nagy ádám</dc:creator>
  <cp:keywords/>
  <dc:description>generated using python-pptx</dc:description>
  <cp:lastModifiedBy>Nagy Ádám</cp:lastModifiedBy>
  <cp:revision>7</cp:revision>
  <dcterms:created xsi:type="dcterms:W3CDTF">2013-01-27T09:14:16Z</dcterms:created>
  <dcterms:modified xsi:type="dcterms:W3CDTF">2025-11-11T22:29:03Z</dcterms:modified>
  <cp:category/>
</cp:coreProperties>
</file>